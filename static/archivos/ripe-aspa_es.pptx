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adar.cloudflare.com/routing/rpki#rpki-aspa-deploymen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68a60c1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68a60c1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 and good morning,</a:t>
            </a:r>
            <a:br>
              <a:rPr lang="en-GB"/>
            </a:br>
            <a:r>
              <a:rPr lang="en-GB"/>
              <a:t>My name is Carlo and today I’m going to talk about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6e29b8a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6e29b8a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e29b8a8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6e29b8a8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6e29b8a8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6e29b8a8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6e29b8a8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6e29b8a8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6e29b8a8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6e29b8a8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e29b8a8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6e29b8a8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12c27ac7ce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12c27ac7ce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12c27ac7c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12c27ac7c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6e29b8a8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6e29b8a8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6e29b8a8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6e29b8a8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12c27ac7ce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12c27ac7ce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412c27ac7ce_1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412c27ac7ce_1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12c27ac7ce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412c27ac7ce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12be1408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412be1408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e528adc22_1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4e528adc22_1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5e2ed76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35e2ed76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409b224f72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409b224f7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899013516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899013516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990135163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899013516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99013516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99013516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defa96a3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defa96a3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8990135163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899013516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983b5f6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8983b5f6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4e528adc22_1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4e528adc22_1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8990135163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8990135163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99013516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899013516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899013516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899013516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990135163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8990135163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4e528adc22_1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4e528adc22_1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8990135163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899013516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40979d34f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40979d34f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 2k aspa’s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https://radar.cloudflare.com/routing/rpki#rpki-aspa-deployment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1.3k RIPE NCC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500 ARIN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APNIC and LACNIC less than 100 both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 + image" type="title">
  <p:cSld name="TITLE">
    <p:bg>
      <p:bgPr>
        <a:solidFill>
          <a:schemeClr val="lt2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600"/>
              <a:buNone/>
              <a:defRPr sz="16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11700" y="1504950"/>
            <a:ext cx="53937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11700" y="1447800"/>
            <a:ext cx="3326700" cy="30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sz="1400"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3943350" y="1447800"/>
            <a:ext cx="4917000" cy="321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20" name="Google Shape;20;p2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Ralph Smit | NetUK 3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July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">
  <p:cSld name="TITLE_3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600"/>
              <a:buNone/>
              <a:defRPr sz="16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3"/>
          <p:cNvSpPr txBox="1"/>
          <p:nvPr/>
        </p:nvSpPr>
        <p:spPr>
          <a:xfrm>
            <a:off x="311700" y="1504950"/>
            <a:ext cx="53937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sz="1400"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794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33" name="Google Shape;33;p3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</a:t>
              </a: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text">
  <p:cSld name="TITLE_2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311700" y="1504950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4"/>
          <p:cNvSpPr txBox="1"/>
          <p:nvPr>
            <p:ph idx="2" type="title"/>
          </p:nvPr>
        </p:nvSpPr>
        <p:spPr>
          <a:xfrm>
            <a:off x="311700" y="972075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600"/>
              <a:buFont typeface="Verdana"/>
              <a:buNone/>
              <a:defRPr b="1" sz="16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3" type="subTitle"/>
          </p:nvPr>
        </p:nvSpPr>
        <p:spPr>
          <a:xfrm>
            <a:off x="3301888" y="1504950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4"/>
          <p:cNvSpPr txBox="1"/>
          <p:nvPr>
            <p:ph idx="4" type="body"/>
          </p:nvPr>
        </p:nvSpPr>
        <p:spPr>
          <a:xfrm>
            <a:off x="3301888" y="1838850"/>
            <a:ext cx="2568300" cy="28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6292075" y="1504950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3" name="Google Shape;43;p4"/>
          <p:cNvSpPr txBox="1"/>
          <p:nvPr>
            <p:ph idx="6" type="body"/>
          </p:nvPr>
        </p:nvSpPr>
        <p:spPr>
          <a:xfrm>
            <a:off x="6292075" y="1838850"/>
            <a:ext cx="2568300" cy="28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4" name="Google Shape;44;p4"/>
          <p:cNvSpPr txBox="1"/>
          <p:nvPr>
            <p:ph idx="7" type="body"/>
          </p:nvPr>
        </p:nvSpPr>
        <p:spPr>
          <a:xfrm>
            <a:off x="311725" y="1838850"/>
            <a:ext cx="2568300" cy="25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grpSp>
        <p:nvGrpSpPr>
          <p:cNvPr id="45" name="Google Shape;45;p4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46" name="Google Shape;46;p4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49" name="Google Shape;49;p4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text + photos">
  <p:cSld name="TITLE_2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subTitle"/>
          </p:nvPr>
        </p:nvSpPr>
        <p:spPr>
          <a:xfrm>
            <a:off x="311700" y="2809875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5"/>
          <p:cNvSpPr txBox="1"/>
          <p:nvPr>
            <p:ph idx="2" type="body"/>
          </p:nvPr>
        </p:nvSpPr>
        <p:spPr>
          <a:xfrm>
            <a:off x="311700" y="3143775"/>
            <a:ext cx="25683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7" name="Google Shape;57;p5"/>
          <p:cNvSpPr txBox="1"/>
          <p:nvPr>
            <p:ph idx="3" type="subTitle"/>
          </p:nvPr>
        </p:nvSpPr>
        <p:spPr>
          <a:xfrm>
            <a:off x="3301888" y="2809875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5"/>
          <p:cNvSpPr txBox="1"/>
          <p:nvPr>
            <p:ph idx="4" type="body"/>
          </p:nvPr>
        </p:nvSpPr>
        <p:spPr>
          <a:xfrm>
            <a:off x="3301900" y="3143775"/>
            <a:ext cx="25683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9" name="Google Shape;59;p5"/>
          <p:cNvSpPr txBox="1"/>
          <p:nvPr>
            <p:ph idx="5" type="subTitle"/>
          </p:nvPr>
        </p:nvSpPr>
        <p:spPr>
          <a:xfrm>
            <a:off x="6292075" y="2809875"/>
            <a:ext cx="2568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100"/>
              <a:buNone/>
              <a:defRPr sz="1100">
                <a:solidFill>
                  <a:srgbClr val="F2673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0" name="Google Shape;60;p5"/>
          <p:cNvSpPr txBox="1"/>
          <p:nvPr>
            <p:ph idx="6" type="body"/>
          </p:nvPr>
        </p:nvSpPr>
        <p:spPr>
          <a:xfrm>
            <a:off x="6292100" y="3143775"/>
            <a:ext cx="25683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61" name="Google Shape;61;p5"/>
          <p:cNvSpPr/>
          <p:nvPr>
            <p:ph idx="7" type="pic"/>
          </p:nvPr>
        </p:nvSpPr>
        <p:spPr>
          <a:xfrm>
            <a:off x="342900" y="972075"/>
            <a:ext cx="25371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5"/>
          <p:cNvSpPr/>
          <p:nvPr>
            <p:ph idx="8" type="pic"/>
          </p:nvPr>
        </p:nvSpPr>
        <p:spPr>
          <a:xfrm>
            <a:off x="3303450" y="972075"/>
            <a:ext cx="25371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5"/>
          <p:cNvSpPr/>
          <p:nvPr>
            <p:ph idx="9" type="pic"/>
          </p:nvPr>
        </p:nvSpPr>
        <p:spPr>
          <a:xfrm>
            <a:off x="6264000" y="972075"/>
            <a:ext cx="2537100" cy="1666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" name="Google Shape;64;p5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65" name="Google Shape;65;p5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66" name="Google Shape;66;p5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68" name="Google Shape;68;p5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age - 5 Column text &amp; photos">
  <p:cSld name="TITLE_2_1_1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idx="1" type="body"/>
          </p:nvPr>
        </p:nvSpPr>
        <p:spPr>
          <a:xfrm>
            <a:off x="69971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2" name="Google Shape;72;p6"/>
          <p:cNvSpPr txBox="1"/>
          <p:nvPr>
            <p:ph idx="2" type="body"/>
          </p:nvPr>
        </p:nvSpPr>
        <p:spPr>
          <a:xfrm>
            <a:off x="69971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3" name="Google Shape;73;p6"/>
          <p:cNvSpPr/>
          <p:nvPr>
            <p:ph idx="3" type="pic"/>
          </p:nvPr>
        </p:nvSpPr>
        <p:spPr>
          <a:xfrm>
            <a:off x="71552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6"/>
          <p:cNvSpPr/>
          <p:nvPr>
            <p:ph idx="4" type="pic"/>
          </p:nvPr>
        </p:nvSpPr>
        <p:spPr>
          <a:xfrm>
            <a:off x="71552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6"/>
          <p:cNvSpPr txBox="1"/>
          <p:nvPr>
            <p:ph idx="5" type="body"/>
          </p:nvPr>
        </p:nvSpPr>
        <p:spPr>
          <a:xfrm>
            <a:off x="69971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6" name="Google Shape;76;p6"/>
          <p:cNvSpPr txBox="1"/>
          <p:nvPr>
            <p:ph idx="6" type="body"/>
          </p:nvPr>
        </p:nvSpPr>
        <p:spPr>
          <a:xfrm>
            <a:off x="69971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7" name="Google Shape;77;p6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/>
          <p:cNvSpPr/>
          <p:nvPr>
            <p:ph idx="7" type="pic"/>
          </p:nvPr>
        </p:nvSpPr>
        <p:spPr>
          <a:xfrm>
            <a:off x="4698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" name="Google Shape;81;p6"/>
          <p:cNvSpPr txBox="1"/>
          <p:nvPr>
            <p:ph idx="8" type="body"/>
          </p:nvPr>
        </p:nvSpPr>
        <p:spPr>
          <a:xfrm>
            <a:off x="3117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2" name="Google Shape;82;p6"/>
          <p:cNvSpPr txBox="1"/>
          <p:nvPr>
            <p:ph idx="9" type="body"/>
          </p:nvPr>
        </p:nvSpPr>
        <p:spPr>
          <a:xfrm>
            <a:off x="3117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3" name="Google Shape;83;p6"/>
          <p:cNvSpPr/>
          <p:nvPr>
            <p:ph idx="13" type="pic"/>
          </p:nvPr>
        </p:nvSpPr>
        <p:spPr>
          <a:xfrm>
            <a:off x="21341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6"/>
          <p:cNvSpPr txBox="1"/>
          <p:nvPr>
            <p:ph idx="14" type="body"/>
          </p:nvPr>
        </p:nvSpPr>
        <p:spPr>
          <a:xfrm>
            <a:off x="19760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5" name="Google Shape;85;p6"/>
          <p:cNvSpPr txBox="1"/>
          <p:nvPr>
            <p:ph idx="15" type="body"/>
          </p:nvPr>
        </p:nvSpPr>
        <p:spPr>
          <a:xfrm>
            <a:off x="19760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6" name="Google Shape;86;p6"/>
          <p:cNvSpPr/>
          <p:nvPr>
            <p:ph idx="16" type="pic"/>
          </p:nvPr>
        </p:nvSpPr>
        <p:spPr>
          <a:xfrm>
            <a:off x="38078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6"/>
          <p:cNvSpPr txBox="1"/>
          <p:nvPr>
            <p:ph idx="17" type="body"/>
          </p:nvPr>
        </p:nvSpPr>
        <p:spPr>
          <a:xfrm>
            <a:off x="36497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8" name="Google Shape;88;p6"/>
          <p:cNvSpPr txBox="1"/>
          <p:nvPr>
            <p:ph idx="18" type="body"/>
          </p:nvPr>
        </p:nvSpPr>
        <p:spPr>
          <a:xfrm>
            <a:off x="36497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9" name="Google Shape;89;p6"/>
          <p:cNvSpPr/>
          <p:nvPr>
            <p:ph idx="19" type="pic"/>
          </p:nvPr>
        </p:nvSpPr>
        <p:spPr>
          <a:xfrm>
            <a:off x="5481500" y="972075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6"/>
          <p:cNvSpPr txBox="1"/>
          <p:nvPr>
            <p:ph idx="20" type="body"/>
          </p:nvPr>
        </p:nvSpPr>
        <p:spPr>
          <a:xfrm>
            <a:off x="5323400" y="2280075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1" name="Google Shape;91;p6"/>
          <p:cNvSpPr txBox="1"/>
          <p:nvPr>
            <p:ph idx="21" type="body"/>
          </p:nvPr>
        </p:nvSpPr>
        <p:spPr>
          <a:xfrm>
            <a:off x="5323400" y="2485861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2" name="Google Shape;92;p6"/>
          <p:cNvSpPr/>
          <p:nvPr>
            <p:ph idx="22" type="pic"/>
          </p:nvPr>
        </p:nvSpPr>
        <p:spPr>
          <a:xfrm>
            <a:off x="4698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3" name="Google Shape;93;p6"/>
          <p:cNvSpPr txBox="1"/>
          <p:nvPr>
            <p:ph idx="23" type="body"/>
          </p:nvPr>
        </p:nvSpPr>
        <p:spPr>
          <a:xfrm>
            <a:off x="3117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4" name="Google Shape;94;p6"/>
          <p:cNvSpPr txBox="1"/>
          <p:nvPr>
            <p:ph idx="24" type="body"/>
          </p:nvPr>
        </p:nvSpPr>
        <p:spPr>
          <a:xfrm>
            <a:off x="3117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5" name="Google Shape;95;p6"/>
          <p:cNvSpPr/>
          <p:nvPr>
            <p:ph idx="25" type="pic"/>
          </p:nvPr>
        </p:nvSpPr>
        <p:spPr>
          <a:xfrm>
            <a:off x="21341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6" name="Google Shape;96;p6"/>
          <p:cNvSpPr txBox="1"/>
          <p:nvPr>
            <p:ph idx="26" type="body"/>
          </p:nvPr>
        </p:nvSpPr>
        <p:spPr>
          <a:xfrm>
            <a:off x="19760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7" name="Google Shape;97;p6"/>
          <p:cNvSpPr txBox="1"/>
          <p:nvPr>
            <p:ph idx="27" type="body"/>
          </p:nvPr>
        </p:nvSpPr>
        <p:spPr>
          <a:xfrm>
            <a:off x="19760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8" name="Google Shape;98;p6"/>
          <p:cNvSpPr/>
          <p:nvPr>
            <p:ph idx="28" type="pic"/>
          </p:nvPr>
        </p:nvSpPr>
        <p:spPr>
          <a:xfrm>
            <a:off x="38078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6"/>
          <p:cNvSpPr txBox="1"/>
          <p:nvPr>
            <p:ph idx="29" type="body"/>
          </p:nvPr>
        </p:nvSpPr>
        <p:spPr>
          <a:xfrm>
            <a:off x="36497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0" name="Google Shape;100;p6"/>
          <p:cNvSpPr txBox="1"/>
          <p:nvPr>
            <p:ph idx="30" type="body"/>
          </p:nvPr>
        </p:nvSpPr>
        <p:spPr>
          <a:xfrm>
            <a:off x="36497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1" name="Google Shape;101;p6"/>
          <p:cNvSpPr/>
          <p:nvPr>
            <p:ph idx="31" type="pic"/>
          </p:nvPr>
        </p:nvSpPr>
        <p:spPr>
          <a:xfrm>
            <a:off x="5481500" y="2982450"/>
            <a:ext cx="1155600" cy="115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6"/>
          <p:cNvSpPr txBox="1"/>
          <p:nvPr>
            <p:ph idx="32" type="body"/>
          </p:nvPr>
        </p:nvSpPr>
        <p:spPr>
          <a:xfrm>
            <a:off x="5323400" y="4290450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3" name="Google Shape;103;p6"/>
          <p:cNvSpPr txBox="1"/>
          <p:nvPr>
            <p:ph idx="33" type="body"/>
          </p:nvPr>
        </p:nvSpPr>
        <p:spPr>
          <a:xfrm>
            <a:off x="5323400" y="4496236"/>
            <a:ext cx="1471800" cy="1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0" sz="1100"/>
            </a:lvl1pPr>
            <a:lvl2pPr indent="-2984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0" sz="1100"/>
            </a:lvl2pPr>
            <a:lvl3pPr indent="-2984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grpSp>
        <p:nvGrpSpPr>
          <p:cNvPr id="104" name="Google Shape;104;p6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105" name="Google Shape;105;p6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108" name="Google Shape;108;p6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9" name="Google Shape;109;p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file Page - 1 Column text + 1 photo">
  <p:cSld name="TITLE_2_1_1_1"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7825" y="0"/>
            <a:ext cx="9144000" cy="7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38" y="146638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None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b="1" sz="7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332400" y="1032475"/>
            <a:ext cx="3240000" cy="324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4022700" y="2317150"/>
            <a:ext cx="4425300" cy="8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sz="1400"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7"/>
          <p:cNvSpPr txBox="1"/>
          <p:nvPr>
            <p:ph idx="3" type="title"/>
          </p:nvPr>
        </p:nvSpPr>
        <p:spPr>
          <a:xfrm>
            <a:off x="4022700" y="1910100"/>
            <a:ext cx="4425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2000"/>
              <a:buFont typeface="Verdana"/>
              <a:buNone/>
              <a:defRPr b="1" sz="20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7"/>
          <p:cNvSpPr txBox="1"/>
          <p:nvPr>
            <p:ph idx="4" type="body"/>
          </p:nvPr>
        </p:nvSpPr>
        <p:spPr>
          <a:xfrm>
            <a:off x="4466409" y="4319850"/>
            <a:ext cx="4304100" cy="2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●"/>
              <a:defRPr b="0" sz="1400">
                <a:solidFill>
                  <a:srgbClr val="F26738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○"/>
              <a:defRPr b="0" sz="1400">
                <a:solidFill>
                  <a:srgbClr val="F26738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■"/>
              <a:defRPr>
                <a:solidFill>
                  <a:srgbClr val="F26738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●"/>
              <a:defRPr>
                <a:solidFill>
                  <a:srgbClr val="F26738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○"/>
              <a:defRPr>
                <a:solidFill>
                  <a:srgbClr val="F26738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■"/>
              <a:defRPr>
                <a:solidFill>
                  <a:srgbClr val="F26738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●"/>
              <a:defRPr>
                <a:solidFill>
                  <a:srgbClr val="F26738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○"/>
              <a:defRPr>
                <a:solidFill>
                  <a:srgbClr val="F26738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738"/>
              </a:buClr>
              <a:buSzPts val="1400"/>
              <a:buChar char="■"/>
              <a:defRPr>
                <a:solidFill>
                  <a:srgbClr val="F26738"/>
                </a:solidFill>
              </a:defRPr>
            </a:lvl9pPr>
          </a:lstStyle>
          <a:p/>
        </p:txBody>
      </p:sp>
      <p:grpSp>
        <p:nvGrpSpPr>
          <p:cNvPr id="119" name="Google Shape;119;p7"/>
          <p:cNvGrpSpPr/>
          <p:nvPr/>
        </p:nvGrpSpPr>
        <p:grpSpPr>
          <a:xfrm>
            <a:off x="0" y="4847150"/>
            <a:ext cx="3410100" cy="201600"/>
            <a:chOff x="0" y="4847150"/>
            <a:chExt cx="3410100" cy="201600"/>
          </a:xfrm>
        </p:grpSpPr>
        <p:grpSp>
          <p:nvGrpSpPr>
            <p:cNvPr id="120" name="Google Shape;120;p7"/>
            <p:cNvGrpSpPr/>
            <p:nvPr/>
          </p:nvGrpSpPr>
          <p:grpSpPr>
            <a:xfrm>
              <a:off x="0" y="4847150"/>
              <a:ext cx="3410100" cy="201600"/>
              <a:chOff x="0" y="4847150"/>
              <a:chExt cx="3410100" cy="201600"/>
            </a:xfrm>
          </p:grpSpPr>
          <p:sp>
            <p:nvSpPr>
              <p:cNvPr id="121" name="Google Shape;121;p7"/>
              <p:cNvSpPr/>
              <p:nvPr/>
            </p:nvSpPr>
            <p:spPr>
              <a:xfrm>
                <a:off x="157200" y="4847150"/>
                <a:ext cx="3252900" cy="201600"/>
              </a:xfrm>
              <a:prstGeom prst="rect">
                <a:avLst/>
              </a:prstGeom>
              <a:solidFill>
                <a:srgbClr val="151F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2" name="Google Shape;122;p7"/>
              <p:cNvSpPr/>
              <p:nvPr/>
            </p:nvSpPr>
            <p:spPr>
              <a:xfrm>
                <a:off x="0" y="4847150"/>
                <a:ext cx="157200" cy="201600"/>
              </a:xfrm>
              <a:prstGeom prst="rect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123" name="Google Shape;123;p7"/>
            <p:cNvSpPr txBox="1"/>
            <p:nvPr/>
          </p:nvSpPr>
          <p:spPr>
            <a:xfrm>
              <a:off x="332400" y="4880825"/>
              <a:ext cx="2991900" cy="15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Carlo Berto | ESNOG | </a:t>
              </a:r>
              <a:r>
                <a:rPr lang="en-GB" sz="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October 2026</a:t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TITLE_2_1_1_1_1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8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32375" y="25"/>
            <a:ext cx="91763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75" y="481925"/>
            <a:ext cx="2494949" cy="6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TITLE_2_1_1_1_1_2"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9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32375" y="25"/>
            <a:ext cx="91763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3650" y="245960"/>
            <a:ext cx="426720" cy="4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2_1_1_1_1_1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16187" y="0"/>
            <a:ext cx="91763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1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3650" y="245960"/>
            <a:ext cx="426720" cy="4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">
  <p:cSld name="BLANK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idx="12" type="sldNum"/>
          </p:nvPr>
        </p:nvSpPr>
        <p:spPr>
          <a:xfrm>
            <a:off x="8513833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16187" y="0"/>
            <a:ext cx="91763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">
  <p:cSld name="BLANK_1_1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12" type="sldNum"/>
          </p:nvPr>
        </p:nvSpPr>
        <p:spPr>
          <a:xfrm>
            <a:off x="8513833" y="47511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2">
            <a:alphaModFix/>
          </a:blip>
          <a:srcRect b="169" l="0" r="0" t="179"/>
          <a:stretch/>
        </p:blipFill>
        <p:spPr>
          <a:xfrm>
            <a:off x="-16175" y="0"/>
            <a:ext cx="91763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1339752"/>
            <a:ext cx="4884600" cy="2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800"/>
              <a:buFont typeface="Verdana"/>
              <a:buChar char="●"/>
              <a:defRPr b="1" sz="18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600"/>
              <a:buFont typeface="Verdana"/>
              <a:buChar char="○"/>
              <a:defRPr b="1" sz="16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■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●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○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■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●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○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6A"/>
              </a:buClr>
              <a:buSzPts val="1400"/>
              <a:buFont typeface="Verdana"/>
              <a:buChar char="■"/>
              <a:defRPr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irrexplorer.nlnog.ne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hyperlink" Target="mailto:ralph.smit@ripe.net" TargetMode="External"/><Relationship Id="rId6" Type="http://schemas.openxmlformats.org/officeDocument/2006/relationships/hyperlink" Target="mailto:ralph.smit@ripe.net" TargetMode="External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75" y="481925"/>
            <a:ext cx="2494949" cy="6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/>
        </p:nvSpPr>
        <p:spPr>
          <a:xfrm>
            <a:off x="3706900" y="1658925"/>
            <a:ext cx="4961400" cy="13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ASPA:</a:t>
            </a:r>
            <a:endParaRPr b="1" sz="3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Autonomous System Provider Authorisation</a:t>
            </a:r>
            <a:endParaRPr b="1" sz="3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48" name="Google Shape;148;p14"/>
          <p:cNvCxnSpPr/>
          <p:nvPr/>
        </p:nvCxnSpPr>
        <p:spPr>
          <a:xfrm>
            <a:off x="3700150" y="3189625"/>
            <a:ext cx="3789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4"/>
          <p:cNvSpPr txBox="1"/>
          <p:nvPr/>
        </p:nvSpPr>
        <p:spPr>
          <a:xfrm>
            <a:off x="3706900" y="4678125"/>
            <a:ext cx="40080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Carlo Berto | ESNOG | </a:t>
            </a:r>
            <a:r>
              <a:rPr lang="en-GB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October 2026</a:t>
            </a:r>
            <a:endParaRPr b="1" sz="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3706900" y="3291825"/>
            <a:ext cx="434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Nueva herramienta para seguridad del routing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15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5"/>
          <p:cNvSpPr txBox="1"/>
          <p:nvPr/>
        </p:nvSpPr>
        <p:spPr>
          <a:xfrm>
            <a:off x="759050" y="3570578"/>
            <a:ext cx="83133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Seguridad actual en BGP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Necesidad de seguridad del routing</a:t>
            </a:r>
            <a:endParaRPr/>
          </a:p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BGP se basa en la confianza</a:t>
            </a:r>
            <a:endParaRPr/>
          </a:p>
        </p:txBody>
      </p:sp>
      <p:sp>
        <p:nvSpPr>
          <p:cNvPr id="164" name="Google Shape;164;p16"/>
          <p:cNvSpPr txBox="1"/>
          <p:nvPr>
            <p:ph idx="2" type="body"/>
          </p:nvPr>
        </p:nvSpPr>
        <p:spPr>
          <a:xfrm>
            <a:off x="311700" y="1447800"/>
            <a:ext cx="38829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Protocolo de texto plano </a:t>
            </a:r>
            <a:r>
              <a:rPr b="1" lang="en-GB"/>
              <a:t>sin autenticación</a:t>
            </a:r>
            <a:r>
              <a:rPr lang="en-GB"/>
              <a:t> ni cifrado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Cualquier sistema autónomo puede </a:t>
            </a:r>
            <a:r>
              <a:rPr b="1" lang="en-GB"/>
              <a:t>anunciar cualquier prefijo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Cualquier router puede suplantar atributos como el AS Path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245" y="2936987"/>
            <a:ext cx="5959255" cy="1763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8800" y="942426"/>
            <a:ext cx="4436398" cy="14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Registros de routing de Internet</a:t>
            </a:r>
            <a:endParaRPr/>
          </a:p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311700" y="1047750"/>
            <a:ext cx="66039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Los objetos de ruta vinculan prefijos con sistemas autónomos</a:t>
            </a:r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94" y="1591737"/>
            <a:ext cx="8402580" cy="2929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Registros de routing de Internet</a:t>
            </a:r>
            <a:endParaRPr/>
          </a:p>
        </p:txBody>
      </p:sp>
      <p:sp>
        <p:nvSpPr>
          <p:cNvPr id="180" name="Google Shape;180;p18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Los objetos aut-num describen la política de routing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825" y="1447800"/>
            <a:ext cx="5303762" cy="309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4121075" y="2264400"/>
            <a:ext cx="9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5316A"/>
                </a:solidFill>
              </a:rPr>
              <a:t>(Provider)</a:t>
            </a:r>
            <a:endParaRPr sz="1200">
              <a:solidFill>
                <a:srgbClr val="25316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Registros de routing de Internet</a:t>
            </a:r>
            <a:endParaRPr/>
          </a:p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" name="Google Shape;190;p19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Limitaciones del sistema IRR</a:t>
            </a:r>
            <a:endParaRPr/>
          </a:p>
        </p:txBody>
      </p:sp>
      <p:sp>
        <p:nvSpPr>
          <p:cNvPr id="191" name="Google Shape;191;p19"/>
          <p:cNvSpPr txBox="1"/>
          <p:nvPr>
            <p:ph idx="2" type="body"/>
          </p:nvPr>
        </p:nvSpPr>
        <p:spPr>
          <a:xfrm>
            <a:off x="311700" y="1447800"/>
            <a:ext cx="4241100" cy="117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Múltiples bases de datos </a:t>
            </a:r>
            <a:r>
              <a:rPr b="1" lang="en-GB"/>
              <a:t>incoherentes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Poca </a:t>
            </a:r>
            <a:r>
              <a:rPr b="1" lang="en-GB"/>
              <a:t>verificación de titularidad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Datos desactualizados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96100" y="2627400"/>
            <a:ext cx="3849300" cy="14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39487"/>
                </a:solidFill>
              </a:rPr>
              <a:t>Descargar datos de fuentes de internet en </a:t>
            </a:r>
            <a:r>
              <a:rPr b="1" lang="en-GB">
                <a:solidFill>
                  <a:srgbClr val="FC4C15"/>
                </a:solidFill>
              </a:rPr>
              <a:t>texto plano</a:t>
            </a:r>
            <a:r>
              <a:rPr lang="en-GB">
                <a:solidFill>
                  <a:srgbClr val="139487"/>
                </a:solidFill>
              </a:rPr>
              <a:t> e introducirlos en la configuración de tus routers.</a:t>
            </a:r>
            <a:endParaRPr>
              <a:solidFill>
                <a:srgbClr val="13948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3948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39487"/>
                </a:solidFill>
              </a:rPr>
              <a:t>¿Que podría pasar?</a:t>
            </a:r>
            <a:endParaRPr>
              <a:solidFill>
                <a:srgbClr val="1394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650" y="1142076"/>
            <a:ext cx="1568150" cy="33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311700" y="4197500"/>
            <a:ext cx="3982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hlink"/>
                </a:solidFill>
                <a:uFill>
                  <a:noFill/>
                </a:uFill>
                <a:latin typeface="Verdana"/>
                <a:ea typeface="Verdana"/>
                <a:cs typeface="Verdana"/>
                <a:sym typeface="Verdana"/>
                <a:hlinkClick r:id="rId4"/>
              </a:rPr>
              <a:t>https://irrexplorer.nlnog.net/</a:t>
            </a:r>
            <a:endParaRPr sz="18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20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0"/>
          <p:cNvSpPr txBox="1"/>
          <p:nvPr/>
        </p:nvSpPr>
        <p:spPr>
          <a:xfrm>
            <a:off x="759050" y="3159249"/>
            <a:ext cx="83133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Resource Public Key Infrastructure (RPKI)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RPKI</a:t>
            </a:r>
            <a:endParaRPr/>
          </a:p>
        </p:txBody>
      </p:sp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1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¿Qué es RPKI?</a:t>
            </a:r>
            <a:endParaRPr/>
          </a:p>
        </p:txBody>
      </p:sp>
      <p:sp>
        <p:nvSpPr>
          <p:cNvPr id="208" name="Google Shape;208;p21"/>
          <p:cNvSpPr txBox="1"/>
          <p:nvPr>
            <p:ph idx="2" type="body"/>
          </p:nvPr>
        </p:nvSpPr>
        <p:spPr>
          <a:xfrm>
            <a:off x="311700" y="1447800"/>
            <a:ext cx="69636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Un marco de seguridad para Internet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Verifica la asociación entre los</a:t>
            </a:r>
            <a:r>
              <a:rPr b="1" lang="en-GB"/>
              <a:t> titulares de recursos</a:t>
            </a:r>
            <a:r>
              <a:rPr lang="en-GB"/>
              <a:t> y sus </a:t>
            </a:r>
            <a:r>
              <a:rPr b="1" lang="en-GB"/>
              <a:t>recursos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Asocia un </a:t>
            </a:r>
            <a:r>
              <a:rPr b="1" lang="en-GB"/>
              <a:t>certificado</a:t>
            </a:r>
            <a:r>
              <a:rPr lang="en-GB"/>
              <a:t> digital a las direcciones IP y los números AS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No contiene otra información sobre los titulares (sin PII)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Lista creciente de casos de uso: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Validación del origen BGP </a:t>
            </a:r>
            <a:r>
              <a:rPr lang="en-GB"/>
              <a:t>(BGP OV)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Autonomous System Provider Authorisation </a:t>
            </a:r>
            <a:r>
              <a:rPr lang="en-GB"/>
              <a:t>(ASPA)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BGPsec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RPKI</a:t>
            </a:r>
            <a:endParaRPr/>
          </a:p>
        </p:txBody>
      </p:sp>
      <p:sp>
        <p:nvSpPr>
          <p:cNvPr id="214" name="Google Shape;214;p22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5" name="Google Shape;215;p22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RPKI en pocas palabras</a:t>
            </a:r>
            <a:endParaRPr/>
          </a:p>
        </p:txBody>
      </p:sp>
      <p:sp>
        <p:nvSpPr>
          <p:cNvPr id="216" name="Google Shape;216;p22"/>
          <p:cNvSpPr txBox="1"/>
          <p:nvPr>
            <p:ph idx="2" type="body"/>
          </p:nvPr>
        </p:nvSpPr>
        <p:spPr>
          <a:xfrm>
            <a:off x="311700" y="1447800"/>
            <a:ext cx="50502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Los titulares de recursos obtienen un certificado de sus RIR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Contiene la lista de recursos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Los titulares pueden crear objetos firmados digitalmente: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ROA</a:t>
            </a:r>
            <a:r>
              <a:rPr lang="en-GB"/>
              <a:t> para autorizar a un sistema autónomo a </a:t>
            </a:r>
            <a:r>
              <a:rPr b="1" lang="en-GB"/>
              <a:t>originar un prefijo</a:t>
            </a:r>
            <a:endParaRPr b="1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ASPA </a:t>
            </a:r>
            <a:r>
              <a:rPr lang="en-GB"/>
              <a:t>para las distintas relaciones de peering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Certificados de router </a:t>
            </a:r>
            <a:r>
              <a:rPr b="1" lang="en-GB"/>
              <a:t>BGPsec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Los operadores de red usan </a:t>
            </a:r>
            <a:r>
              <a:rPr b="1" lang="en-GB"/>
              <a:t>datos validados</a:t>
            </a:r>
            <a:r>
              <a:rPr lang="en-GB"/>
              <a:t> para </a:t>
            </a:r>
            <a:r>
              <a:rPr b="1" lang="en-GB"/>
              <a:t>filtrar anuncios BGP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075" y="2877425"/>
            <a:ext cx="3650499" cy="15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311700" y="219600"/>
            <a:ext cx="770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RPKI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23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RPKI no es solo validación del origen</a:t>
            </a:r>
            <a:endParaRPr/>
          </a:p>
        </p:txBody>
      </p:sp>
      <p:sp>
        <p:nvSpPr>
          <p:cNvPr id="225" name="Google Shape;225;p23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La validación del origen de rutas es el </a:t>
            </a:r>
            <a:r>
              <a:rPr b="1" lang="en-GB"/>
              <a:t>primer y más popular</a:t>
            </a:r>
            <a:r>
              <a:rPr lang="en-GB"/>
              <a:t> servicio de RPKI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Evita el </a:t>
            </a:r>
            <a:r>
              <a:rPr b="1" lang="en-GB"/>
              <a:t>origen ilegítimo</a:t>
            </a:r>
            <a:r>
              <a:rPr lang="en-GB"/>
              <a:t> o los hijackings de </a:t>
            </a:r>
            <a:r>
              <a:rPr b="1" lang="en-GB"/>
              <a:t>prefijos más específicos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No protege contra el </a:t>
            </a:r>
            <a:r>
              <a:rPr b="1" lang="en-GB"/>
              <a:t>spoofing del AS path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No evita los leaks de rutas que </a:t>
            </a:r>
            <a:r>
              <a:rPr b="1" lang="en-GB"/>
              <a:t>conservan el AS path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24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4"/>
          <p:cNvSpPr txBox="1"/>
          <p:nvPr/>
        </p:nvSpPr>
        <p:spPr>
          <a:xfrm>
            <a:off x="759050" y="2693050"/>
            <a:ext cx="66681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Autonomous System Provider Authorisation (ASPA)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ASPA</a:t>
            </a:r>
            <a:endParaRPr/>
          </a:p>
        </p:txBody>
      </p:sp>
      <p:sp>
        <p:nvSpPr>
          <p:cNvPr id="237" name="Google Shape;237;p25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8" name="Google Shape;238;p25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Objeto ASPA</a:t>
            </a:r>
            <a:endParaRPr/>
          </a:p>
        </p:txBody>
      </p:sp>
      <p:sp>
        <p:nvSpPr>
          <p:cNvPr id="239" name="Google Shape;239;p25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Objeto emitido por el </a:t>
            </a:r>
            <a:r>
              <a:rPr b="1" lang="en-GB"/>
              <a:t>titular de un número AS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Contiene </a:t>
            </a:r>
            <a:r>
              <a:rPr b="1" lang="en-GB"/>
              <a:t>los números de AS de los proveedores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Debe estar </a:t>
            </a:r>
            <a:r>
              <a:rPr b="1" lang="en-GB"/>
              <a:t>firmado por un certificado RPKI</a:t>
            </a:r>
            <a:r>
              <a:rPr lang="en-GB"/>
              <a:t> que demuestre la titularidad del número AS del cliente</a:t>
            </a:r>
            <a:endParaRPr/>
          </a:p>
        </p:txBody>
      </p:sp>
      <p:pic>
        <p:nvPicPr>
          <p:cNvPr id="240" name="Google Shape;240;p25" title="Screenshot 2025-10-10 at 10.19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52275"/>
            <a:ext cx="4616699" cy="175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title="Screenshot 2025-10-10 at 10.20.12.png"/>
          <p:cNvPicPr preferRelativeResize="0"/>
          <p:nvPr/>
        </p:nvPicPr>
        <p:blipFill rotWithShape="1">
          <a:blip r:embed="rId4">
            <a:alphaModFix/>
          </a:blip>
          <a:srcRect b="1884" l="0" r="0" t="0"/>
          <a:stretch/>
        </p:blipFill>
        <p:spPr>
          <a:xfrm>
            <a:off x="3321475" y="3086950"/>
            <a:ext cx="4841524" cy="17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311700" y="219600"/>
            <a:ext cx="7703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ASPA</a:t>
            </a:r>
            <a:endParaRPr/>
          </a:p>
        </p:txBody>
      </p:sp>
      <p:sp>
        <p:nvSpPr>
          <p:cNvPr id="247" name="Google Shape;247;p2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8" name="Google Shape;248;p26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Validación de la ruta ascendente</a:t>
            </a:r>
            <a:endParaRPr/>
          </a:p>
        </p:txBody>
      </p:sp>
      <p:sp>
        <p:nvSpPr>
          <p:cNvPr id="249" name="Google Shape;249;p26"/>
          <p:cNvSpPr txBox="1"/>
          <p:nvPr>
            <p:ph idx="2" type="body"/>
          </p:nvPr>
        </p:nvSpPr>
        <p:spPr>
          <a:xfrm>
            <a:off x="311700" y="1447800"/>
            <a:ext cx="3856200" cy="13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Para sesiones BGP con </a:t>
            </a:r>
            <a:r>
              <a:rPr b="1" lang="en-GB"/>
              <a:t>clientes</a:t>
            </a:r>
            <a:r>
              <a:rPr lang="en-GB"/>
              <a:t> y </a:t>
            </a:r>
            <a:r>
              <a:rPr b="1" lang="en-GB"/>
              <a:t>peers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Más simple y estricta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Solo se permite </a:t>
            </a:r>
            <a:r>
              <a:rPr b="1" lang="en-GB"/>
              <a:t>tramo ascendente</a:t>
            </a:r>
            <a:endParaRPr b="1"/>
          </a:p>
        </p:txBody>
      </p:sp>
      <p:sp>
        <p:nvSpPr>
          <p:cNvPr id="250" name="Google Shape;250;p26"/>
          <p:cNvSpPr txBox="1"/>
          <p:nvPr>
            <p:ph idx="2" type="body"/>
          </p:nvPr>
        </p:nvSpPr>
        <p:spPr>
          <a:xfrm>
            <a:off x="4744100" y="1447800"/>
            <a:ext cx="3816000" cy="13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Para sesiones BGP con </a:t>
            </a:r>
            <a:r>
              <a:rPr b="1" lang="en-GB"/>
              <a:t>proveedores de tránsito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-GB"/>
              <a:t>Permite un </a:t>
            </a:r>
            <a:r>
              <a:rPr b="1" lang="en-GB"/>
              <a:t>tramo ascendente</a:t>
            </a:r>
            <a:r>
              <a:rPr lang="en-GB"/>
              <a:t> (al proveedor de tránsito) y un </a:t>
            </a:r>
            <a:r>
              <a:rPr b="1" lang="en-GB"/>
              <a:t>tramo descendente</a:t>
            </a:r>
            <a:r>
              <a:rPr lang="en-GB"/>
              <a:t> (hasta tu red)</a:t>
            </a:r>
            <a:endParaRPr/>
          </a:p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48241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Validación de la ruta descendente</a:t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915525" y="4000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253" name="Google Shape;253;p26"/>
          <p:cNvSpPr/>
          <p:nvPr/>
        </p:nvSpPr>
        <p:spPr>
          <a:xfrm>
            <a:off x="1927600" y="4000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915588" y="29377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Peer</a:t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1927663" y="2937750"/>
            <a:ext cx="712200" cy="712200"/>
          </a:xfrm>
          <a:prstGeom prst="ellipse">
            <a:avLst/>
          </a:prstGeom>
          <a:solidFill>
            <a:srgbClr val="FC4C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YOU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6" name="Google Shape;256;p26"/>
          <p:cNvCxnSpPr>
            <a:stCxn id="252" idx="0"/>
            <a:endCxn id="254" idx="4"/>
          </p:cNvCxnSpPr>
          <p:nvPr/>
        </p:nvCxnSpPr>
        <p:spPr>
          <a:xfrm rot="10800000">
            <a:off x="1271625" y="3649850"/>
            <a:ext cx="0" cy="35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6"/>
          <p:cNvCxnSpPr>
            <a:stCxn id="253" idx="0"/>
            <a:endCxn id="255" idx="4"/>
          </p:cNvCxnSpPr>
          <p:nvPr/>
        </p:nvCxnSpPr>
        <p:spPr>
          <a:xfrm rot="10800000">
            <a:off x="2283700" y="3649850"/>
            <a:ext cx="0" cy="35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6"/>
          <p:cNvCxnSpPr>
            <a:stCxn id="254" idx="6"/>
            <a:endCxn id="255" idx="2"/>
          </p:cNvCxnSpPr>
          <p:nvPr/>
        </p:nvCxnSpPr>
        <p:spPr>
          <a:xfrm>
            <a:off x="1627788" y="3293850"/>
            <a:ext cx="30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6"/>
          <p:cNvSpPr/>
          <p:nvPr/>
        </p:nvSpPr>
        <p:spPr>
          <a:xfrm>
            <a:off x="5685200" y="4000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>
            <a:off x="7437163" y="4000550"/>
            <a:ext cx="712200" cy="712200"/>
          </a:xfrm>
          <a:prstGeom prst="ellipse">
            <a:avLst/>
          </a:prstGeom>
          <a:solidFill>
            <a:srgbClr val="FC4C1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YOU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5685200" y="3092975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ISP</a:t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7437175" y="3092975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ISP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6561188" y="2645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</p:txBody>
      </p:sp>
      <p:cxnSp>
        <p:nvCxnSpPr>
          <p:cNvPr id="264" name="Google Shape;264;p26"/>
          <p:cNvCxnSpPr>
            <a:stCxn id="259" idx="0"/>
            <a:endCxn id="261" idx="4"/>
          </p:cNvCxnSpPr>
          <p:nvPr/>
        </p:nvCxnSpPr>
        <p:spPr>
          <a:xfrm rot="10800000">
            <a:off x="6041300" y="3805250"/>
            <a:ext cx="0" cy="1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6"/>
          <p:cNvCxnSpPr>
            <a:stCxn id="261" idx="7"/>
            <a:endCxn id="263" idx="2"/>
          </p:cNvCxnSpPr>
          <p:nvPr/>
        </p:nvCxnSpPr>
        <p:spPr>
          <a:xfrm flipH="1" rot="10800000">
            <a:off x="6293101" y="3001674"/>
            <a:ext cx="268200" cy="1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6"/>
          <p:cNvCxnSpPr>
            <a:stCxn id="263" idx="6"/>
            <a:endCxn id="262" idx="1"/>
          </p:cNvCxnSpPr>
          <p:nvPr/>
        </p:nvCxnSpPr>
        <p:spPr>
          <a:xfrm>
            <a:off x="7273388" y="3001650"/>
            <a:ext cx="268200" cy="1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6"/>
          <p:cNvCxnSpPr>
            <a:stCxn id="262" idx="4"/>
            <a:endCxn id="260" idx="0"/>
          </p:cNvCxnSpPr>
          <p:nvPr/>
        </p:nvCxnSpPr>
        <p:spPr>
          <a:xfrm>
            <a:off x="7793275" y="3805175"/>
            <a:ext cx="0" cy="1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6"/>
          <p:cNvCxnSpPr>
            <a:stCxn id="261" idx="6"/>
            <a:endCxn id="262" idx="2"/>
          </p:cNvCxnSpPr>
          <p:nvPr/>
        </p:nvCxnSpPr>
        <p:spPr>
          <a:xfrm>
            <a:off x="6397400" y="3449075"/>
            <a:ext cx="103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27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7"/>
          <p:cNvSpPr txBox="1"/>
          <p:nvPr/>
        </p:nvSpPr>
        <p:spPr>
          <a:xfrm>
            <a:off x="759050" y="3159250"/>
            <a:ext cx="66681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Validación ascendente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" name="Google Shape;280;p28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Rutas plausibles, bueno… no improbables</a:t>
            </a:r>
            <a:endParaRPr/>
          </a:p>
        </p:txBody>
      </p:sp>
      <p:sp>
        <p:nvSpPr>
          <p:cNvPr id="281" name="Google Shape;281;p28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Validación en detalle de la ruta ascendente</a:t>
            </a:r>
            <a:endParaRPr/>
          </a:p>
        </p:txBody>
      </p:sp>
      <p:sp>
        <p:nvSpPr>
          <p:cNvPr id="282" name="Google Shape;282;p28"/>
          <p:cNvSpPr txBox="1"/>
          <p:nvPr>
            <p:ph idx="2" type="body"/>
          </p:nvPr>
        </p:nvSpPr>
        <p:spPr>
          <a:xfrm>
            <a:off x="311700" y="1447800"/>
            <a:ext cx="84918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Cada </a:t>
            </a:r>
            <a:r>
              <a:rPr b="1" lang="en-GB"/>
              <a:t>salto AS a AS</a:t>
            </a:r>
            <a:r>
              <a:rPr lang="en-GB"/>
              <a:t> se </a:t>
            </a:r>
            <a:r>
              <a:rPr i="1" lang="en-GB"/>
              <a:t>verifica</a:t>
            </a:r>
            <a:r>
              <a:rPr lang="en-GB"/>
              <a:t> como: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Provider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Not Provider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No Attestation</a:t>
            </a:r>
            <a:br>
              <a:rPr b="1" lang="en-GB"/>
            </a:br>
            <a:r>
              <a:rPr lang="en-GB"/>
              <a:t>(no existe ASPA para el AS del cliente)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Verificación ASPA - rutas de clientes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9" name="Google Shape;289;p29"/>
          <p:cNvSpPr txBox="1"/>
          <p:nvPr>
            <p:ph idx="1" type="subTitle"/>
          </p:nvPr>
        </p:nvSpPr>
        <p:spPr>
          <a:xfrm>
            <a:off x="311700" y="916539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AS de origen suplantado</a:t>
            </a:r>
            <a:endParaRPr/>
          </a:p>
        </p:txBody>
      </p:sp>
      <p:sp>
        <p:nvSpPr>
          <p:cNvPr id="290" name="Google Shape;290;p29"/>
          <p:cNvSpPr txBox="1"/>
          <p:nvPr>
            <p:ph idx="2" type="body"/>
          </p:nvPr>
        </p:nvSpPr>
        <p:spPr>
          <a:xfrm>
            <a:off x="311700" y="119735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Dado: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AS4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AS4 =&gt; [ AS2 ]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ve 3 5 4 192.0.2.0/24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/>
              <a:t>AS1 sabe: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es una una sesión de cliente - </a:t>
            </a:r>
            <a:r>
              <a:rPr b="1" lang="en-GB" sz="1300"/>
              <a:t>se utiliza la validación ascendente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AS5 es “</a:t>
            </a:r>
            <a:r>
              <a:rPr b="1" lang="en-GB" sz="1300"/>
              <a:t>Not Provider</a:t>
            </a:r>
            <a:r>
              <a:rPr lang="en-GB" sz="1300"/>
              <a:t>” for AS4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/>
              <a:t>Por lo tanto, esto es </a:t>
            </a:r>
            <a:r>
              <a:rPr b="1" lang="en-GB" sz="1300"/>
              <a:t>inválido</a:t>
            </a:r>
            <a:r>
              <a:rPr lang="en-GB" sz="1300"/>
              <a:t>.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5568713" y="147830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6531897" y="23202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6531897" y="33146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cxnSp>
        <p:nvCxnSpPr>
          <p:cNvPr id="294" name="Google Shape;294;p29"/>
          <p:cNvCxnSpPr>
            <a:stCxn id="291" idx="5"/>
            <a:endCxn id="292" idx="1"/>
          </p:cNvCxnSpPr>
          <p:nvPr/>
        </p:nvCxnSpPr>
        <p:spPr>
          <a:xfrm>
            <a:off x="6176614" y="2086201"/>
            <a:ext cx="4596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5" name="Google Shape;295;p29"/>
          <p:cNvCxnSpPr>
            <a:stCxn id="292" idx="4"/>
            <a:endCxn id="293" idx="0"/>
          </p:cNvCxnSpPr>
          <p:nvPr/>
        </p:nvCxnSpPr>
        <p:spPr>
          <a:xfrm>
            <a:off x="6887997" y="3032450"/>
            <a:ext cx="0" cy="28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6" name="Google Shape;296;p29"/>
          <p:cNvSpPr/>
          <p:nvPr/>
        </p:nvSpPr>
        <p:spPr>
          <a:xfrm>
            <a:off x="6572297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p29"/>
          <p:cNvSpPr/>
          <p:nvPr/>
        </p:nvSpPr>
        <p:spPr>
          <a:xfrm flipH="1">
            <a:off x="7124532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7730575" y="33146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“AS4”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7408375" y="418940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0" name="Google Shape;300;p29"/>
          <p:cNvCxnSpPr>
            <a:stCxn id="298" idx="2"/>
            <a:endCxn id="293" idx="6"/>
          </p:cNvCxnSpPr>
          <p:nvPr/>
        </p:nvCxnSpPr>
        <p:spPr>
          <a:xfrm rot="10800000">
            <a:off x="7243975" y="3670700"/>
            <a:ext cx="486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301" name="Google Shape;301;p29"/>
          <p:cNvCxnSpPr>
            <a:stCxn id="298" idx="4"/>
            <a:endCxn id="299" idx="0"/>
          </p:cNvCxnSpPr>
          <p:nvPr/>
        </p:nvCxnSpPr>
        <p:spPr>
          <a:xfrm>
            <a:off x="8086675" y="402680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9"/>
          <p:cNvSpPr/>
          <p:nvPr/>
        </p:nvSpPr>
        <p:spPr>
          <a:xfrm>
            <a:off x="7767518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p29"/>
          <p:cNvSpPr/>
          <p:nvPr/>
        </p:nvSpPr>
        <p:spPr>
          <a:xfrm flipH="1">
            <a:off x="8319753" y="3238400"/>
            <a:ext cx="91500" cy="280800"/>
          </a:xfrm>
          <a:prstGeom prst="rtTriangl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04" name="Google Shape;304;p29"/>
          <p:cNvCxnSpPr/>
          <p:nvPr/>
        </p:nvCxnSpPr>
        <p:spPr>
          <a:xfrm>
            <a:off x="7404200" y="3488650"/>
            <a:ext cx="222300" cy="36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9"/>
          <p:cNvCxnSpPr/>
          <p:nvPr/>
        </p:nvCxnSpPr>
        <p:spPr>
          <a:xfrm flipH="1">
            <a:off x="7404200" y="3488650"/>
            <a:ext cx="222300" cy="36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29"/>
          <p:cNvSpPr/>
          <p:nvPr/>
        </p:nvSpPr>
        <p:spPr>
          <a:xfrm>
            <a:off x="4779297" y="23202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4793325" y="33146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sp>
        <p:nvSpPr>
          <p:cNvPr id="308" name="Google Shape;308;p29"/>
          <p:cNvSpPr/>
          <p:nvPr/>
        </p:nvSpPr>
        <p:spPr>
          <a:xfrm>
            <a:off x="4464150" y="418940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9" name="Google Shape;309;p29"/>
          <p:cNvCxnSpPr>
            <a:stCxn id="308" idx="0"/>
            <a:endCxn id="307" idx="4"/>
          </p:cNvCxnSpPr>
          <p:nvPr/>
        </p:nvCxnSpPr>
        <p:spPr>
          <a:xfrm flipH="1" rot="10800000">
            <a:off x="5142450" y="4026800"/>
            <a:ext cx="690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9"/>
          <p:cNvCxnSpPr>
            <a:stCxn id="291" idx="3"/>
            <a:endCxn id="306" idx="7"/>
          </p:cNvCxnSpPr>
          <p:nvPr/>
        </p:nvCxnSpPr>
        <p:spPr>
          <a:xfrm flipH="1">
            <a:off x="5387112" y="2086201"/>
            <a:ext cx="2859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1" name="Google Shape;311;p29"/>
          <p:cNvCxnSpPr>
            <a:stCxn id="306" idx="4"/>
            <a:endCxn id="307" idx="0"/>
          </p:cNvCxnSpPr>
          <p:nvPr/>
        </p:nvCxnSpPr>
        <p:spPr>
          <a:xfrm>
            <a:off x="5135397" y="3032450"/>
            <a:ext cx="14100" cy="282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Verificación ASPA: rutas de clientes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5296713" y="127925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6259897" y="21212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6259897" y="3115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cxnSp>
        <p:nvCxnSpPr>
          <p:cNvPr id="321" name="Google Shape;321;p30"/>
          <p:cNvCxnSpPr>
            <a:stCxn id="318" idx="5"/>
            <a:endCxn id="319" idx="1"/>
          </p:cNvCxnSpPr>
          <p:nvPr/>
        </p:nvCxnSpPr>
        <p:spPr>
          <a:xfrm>
            <a:off x="5904614" y="1887151"/>
            <a:ext cx="4596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2" name="Google Shape;322;p30"/>
          <p:cNvCxnSpPr>
            <a:stCxn id="319" idx="4"/>
            <a:endCxn id="320" idx="0"/>
          </p:cNvCxnSpPr>
          <p:nvPr/>
        </p:nvCxnSpPr>
        <p:spPr>
          <a:xfrm>
            <a:off x="6615997" y="2833400"/>
            <a:ext cx="0" cy="28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23" name="Google Shape;323;p30"/>
          <p:cNvSpPr/>
          <p:nvPr/>
        </p:nvSpPr>
        <p:spPr>
          <a:xfrm>
            <a:off x="4507297" y="21212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4521325" y="31155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4192150" y="39903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26" name="Google Shape;326;p30"/>
          <p:cNvCxnSpPr>
            <a:stCxn id="325" idx="0"/>
            <a:endCxn id="324" idx="4"/>
          </p:cNvCxnSpPr>
          <p:nvPr/>
        </p:nvCxnSpPr>
        <p:spPr>
          <a:xfrm flipH="1" rot="10800000">
            <a:off x="4870450" y="3827750"/>
            <a:ext cx="690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0"/>
          <p:cNvCxnSpPr>
            <a:stCxn id="318" idx="3"/>
            <a:endCxn id="323" idx="7"/>
          </p:cNvCxnSpPr>
          <p:nvPr/>
        </p:nvCxnSpPr>
        <p:spPr>
          <a:xfrm flipH="1">
            <a:off x="5115112" y="1887151"/>
            <a:ext cx="285900" cy="33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8" name="Google Shape;328;p30"/>
          <p:cNvCxnSpPr>
            <a:stCxn id="323" idx="4"/>
            <a:endCxn id="324" idx="0"/>
          </p:cNvCxnSpPr>
          <p:nvPr/>
        </p:nvCxnSpPr>
        <p:spPr>
          <a:xfrm>
            <a:off x="4863397" y="2833400"/>
            <a:ext cx="14100" cy="282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9" name="Google Shape;329;p30"/>
          <p:cNvCxnSpPr>
            <a:stCxn id="324" idx="6"/>
            <a:endCxn id="320" idx="2"/>
          </p:cNvCxnSpPr>
          <p:nvPr/>
        </p:nvCxnSpPr>
        <p:spPr>
          <a:xfrm>
            <a:off x="5233525" y="3471650"/>
            <a:ext cx="102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0" name="Google Shape;330;p30"/>
          <p:cNvSpPr txBox="1"/>
          <p:nvPr/>
        </p:nvSpPr>
        <p:spPr>
          <a:xfrm>
            <a:off x="5560400" y="3158900"/>
            <a:ext cx="459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peer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1" name="Google Shape;331;p30"/>
          <p:cNvSpPr txBox="1"/>
          <p:nvPr>
            <p:ph idx="2" type="body"/>
          </p:nvPr>
        </p:nvSpPr>
        <p:spPr>
          <a:xfrm>
            <a:off x="311700" y="122825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Dado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AS4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AS4 =&gt; [ AS2 ]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ve 3 5 4 192.0.2.0/24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AS1 sabe: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es una sesión de cliente - se utiliza la </a:t>
            </a:r>
            <a:r>
              <a:rPr b="1" lang="en-GB" sz="1300"/>
              <a:t>validación ascendente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AS5 es “</a:t>
            </a:r>
            <a:r>
              <a:rPr b="1" lang="en-GB" sz="1300"/>
              <a:t>Not Provider</a:t>
            </a:r>
            <a:r>
              <a:rPr lang="en-GB" sz="1300"/>
              <a:t>” para AS4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Por lo tanto, esto es </a:t>
            </a:r>
            <a:r>
              <a:rPr b="1" lang="en-GB" sz="1300"/>
              <a:t>inválido</a:t>
            </a:r>
            <a:r>
              <a:rPr lang="en-GB" sz="1300"/>
              <a:t>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300"/>
              <a:t>Nota: no importa si se trata de un leak accidental o de una suplantación maliciosa.</a:t>
            </a:r>
            <a:endParaRPr i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/>
            </a:br>
            <a:endParaRPr sz="1300"/>
          </a:p>
        </p:txBody>
      </p:sp>
      <p:sp>
        <p:nvSpPr>
          <p:cNvPr id="332" name="Google Shape;332;p30"/>
          <p:cNvSpPr txBox="1"/>
          <p:nvPr>
            <p:ph idx="1" type="subTitle"/>
          </p:nvPr>
        </p:nvSpPr>
        <p:spPr>
          <a:xfrm>
            <a:off x="311700" y="916539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O... ¿quizá simplemente un leak?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31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1"/>
          <p:cNvSpPr txBox="1"/>
          <p:nvPr/>
        </p:nvSpPr>
        <p:spPr>
          <a:xfrm>
            <a:off x="759050" y="3159250"/>
            <a:ext cx="66681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Validación descendente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Enrutamiento sin valles: rutas de proveedores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2"/>
          <p:cNvSpPr/>
          <p:nvPr/>
        </p:nvSpPr>
        <p:spPr>
          <a:xfrm>
            <a:off x="353800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353800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1804925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Stub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2566913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</a:t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1804929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3301497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3301497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4456026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cxnSp>
        <p:nvCxnSpPr>
          <p:cNvPr id="353" name="Google Shape;353;p32"/>
          <p:cNvCxnSpPr>
            <a:stCxn id="345" idx="0"/>
            <a:endCxn id="346" idx="4"/>
          </p:cNvCxnSpPr>
          <p:nvPr/>
        </p:nvCxnSpPr>
        <p:spPr>
          <a:xfrm rot="10800000">
            <a:off x="709900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32"/>
          <p:cNvCxnSpPr>
            <a:stCxn id="346" idx="6"/>
            <a:endCxn id="349" idx="2"/>
          </p:cNvCxnSpPr>
          <p:nvPr/>
        </p:nvCxnSpPr>
        <p:spPr>
          <a:xfrm>
            <a:off x="1066000" y="2917800"/>
            <a:ext cx="73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5" name="Google Shape;355;p32"/>
          <p:cNvCxnSpPr>
            <a:stCxn id="347" idx="0"/>
            <a:endCxn id="349" idx="4"/>
          </p:cNvCxnSpPr>
          <p:nvPr/>
        </p:nvCxnSpPr>
        <p:spPr>
          <a:xfrm rot="10800000">
            <a:off x="2161025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32"/>
          <p:cNvCxnSpPr>
            <a:stCxn id="346" idx="7"/>
            <a:endCxn id="348" idx="2"/>
          </p:cNvCxnSpPr>
          <p:nvPr/>
        </p:nvCxnSpPr>
        <p:spPr>
          <a:xfrm flipH="1" rot="10800000">
            <a:off x="961701" y="1847299"/>
            <a:ext cx="1605300" cy="8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32"/>
          <p:cNvCxnSpPr>
            <a:stCxn id="348" idx="5"/>
            <a:endCxn id="350" idx="1"/>
          </p:cNvCxnSpPr>
          <p:nvPr/>
        </p:nvCxnSpPr>
        <p:spPr>
          <a:xfrm>
            <a:off x="3174814" y="2099051"/>
            <a:ext cx="2310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58" name="Google Shape;358;p32"/>
          <p:cNvCxnSpPr>
            <a:stCxn id="350" idx="4"/>
            <a:endCxn id="351" idx="0"/>
          </p:cNvCxnSpPr>
          <p:nvPr/>
        </p:nvCxnSpPr>
        <p:spPr>
          <a:xfrm>
            <a:off x="3657597" y="3197700"/>
            <a:ext cx="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59" name="Google Shape;359;p32"/>
          <p:cNvCxnSpPr>
            <a:stCxn id="350" idx="5"/>
            <a:endCxn id="352" idx="1"/>
          </p:cNvCxnSpPr>
          <p:nvPr/>
        </p:nvCxnSpPr>
        <p:spPr>
          <a:xfrm>
            <a:off x="3909398" y="3093401"/>
            <a:ext cx="6510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0" name="Google Shape;360;p32"/>
          <p:cNvCxnSpPr>
            <a:stCxn id="349" idx="7"/>
            <a:endCxn id="348" idx="3"/>
          </p:cNvCxnSpPr>
          <p:nvPr/>
        </p:nvCxnSpPr>
        <p:spPr>
          <a:xfrm flipH="1" rot="10800000">
            <a:off x="2412830" y="2098999"/>
            <a:ext cx="2583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p32"/>
          <p:cNvSpPr/>
          <p:nvPr/>
        </p:nvSpPr>
        <p:spPr>
          <a:xfrm>
            <a:off x="4852913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</a:t>
            </a:r>
            <a:endParaRPr/>
          </a:p>
        </p:txBody>
      </p:sp>
      <p:sp>
        <p:nvSpPr>
          <p:cNvPr id="362" name="Google Shape;362;p32"/>
          <p:cNvSpPr/>
          <p:nvPr/>
        </p:nvSpPr>
        <p:spPr>
          <a:xfrm>
            <a:off x="5816097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cxnSp>
        <p:nvCxnSpPr>
          <p:cNvPr id="363" name="Google Shape;363;p32"/>
          <p:cNvCxnSpPr>
            <a:stCxn id="348" idx="6"/>
            <a:endCxn id="361" idx="2"/>
          </p:cNvCxnSpPr>
          <p:nvPr/>
        </p:nvCxnSpPr>
        <p:spPr>
          <a:xfrm>
            <a:off x="3279113" y="1847250"/>
            <a:ext cx="157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" name="Google Shape;364;p32"/>
          <p:cNvCxnSpPr>
            <a:stCxn id="361" idx="3"/>
            <a:endCxn id="350" idx="7"/>
          </p:cNvCxnSpPr>
          <p:nvPr/>
        </p:nvCxnSpPr>
        <p:spPr>
          <a:xfrm flipH="1">
            <a:off x="3909312" y="2099051"/>
            <a:ext cx="10479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5" name="Google Shape;365;p32"/>
          <p:cNvCxnSpPr>
            <a:stCxn id="361" idx="5"/>
            <a:endCxn id="362" idx="1"/>
          </p:cNvCxnSpPr>
          <p:nvPr/>
        </p:nvCxnSpPr>
        <p:spPr>
          <a:xfrm>
            <a:off x="5460814" y="2099051"/>
            <a:ext cx="4596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66" name="Google Shape;366;p32"/>
          <p:cNvSpPr/>
          <p:nvPr/>
        </p:nvSpPr>
        <p:spPr>
          <a:xfrm>
            <a:off x="5827626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cxnSp>
        <p:nvCxnSpPr>
          <p:cNvPr id="367" name="Google Shape;367;p32"/>
          <p:cNvCxnSpPr>
            <a:stCxn id="362" idx="4"/>
            <a:endCxn id="366" idx="0"/>
          </p:cNvCxnSpPr>
          <p:nvPr/>
        </p:nvCxnSpPr>
        <p:spPr>
          <a:xfrm>
            <a:off x="6172197" y="3197700"/>
            <a:ext cx="1140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68" name="Google Shape;368;p32"/>
          <p:cNvSpPr txBox="1"/>
          <p:nvPr>
            <p:ph idx="2" type="body"/>
          </p:nvPr>
        </p:nvSpPr>
        <p:spPr>
          <a:xfrm>
            <a:off x="6709800" y="1557150"/>
            <a:ext cx="2313900" cy="3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Los datos nunca deben f</a:t>
            </a:r>
            <a:r>
              <a:rPr lang="en-GB" sz="1800"/>
              <a:t>luir </a:t>
            </a:r>
            <a:r>
              <a:rPr b="1" lang="en-GB" sz="1600"/>
              <a:t>A</a:t>
            </a:r>
            <a:r>
              <a:rPr b="1" lang="en-GB" sz="1600"/>
              <a:t>rriba-Abajo-Arriba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/>
              <a:t>ASPA puede </a:t>
            </a:r>
            <a:r>
              <a:rPr b="1" lang="en-GB" sz="1800"/>
              <a:t>detectar valles</a:t>
            </a:r>
            <a:r>
              <a:rPr lang="en-GB" sz="1800"/>
              <a:t> en la ruta AS mediante el método de </a:t>
            </a:r>
            <a:r>
              <a:rPr b="1" lang="en-GB" sz="1800"/>
              <a:t>validación descendente</a:t>
            </a:r>
            <a:endParaRPr b="1" sz="1800"/>
          </a:p>
        </p:txBody>
      </p:sp>
      <p:sp>
        <p:nvSpPr>
          <p:cNvPr id="369" name="Google Shape;369;p32"/>
          <p:cNvSpPr txBox="1"/>
          <p:nvPr>
            <p:ph idx="1" type="subTitle"/>
          </p:nvPr>
        </p:nvSpPr>
        <p:spPr>
          <a:xfrm>
            <a:off x="311700" y="855375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Arriba, hacia un lado y después abajo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5" name="Google Shape;375;p33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Cómo encuentra ASPA los valles en las rutas 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 txBox="1"/>
          <p:nvPr>
            <p:ph idx="2" type="body"/>
          </p:nvPr>
        </p:nvSpPr>
        <p:spPr>
          <a:xfrm>
            <a:off x="311700" y="1212625"/>
            <a:ext cx="8563800" cy="368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Cada </a:t>
            </a:r>
            <a:r>
              <a:rPr b="1" lang="en-GB"/>
              <a:t>salto de AS a AS</a:t>
            </a:r>
            <a:r>
              <a:rPr lang="en-GB"/>
              <a:t> se verifica como: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Provider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-GB"/>
              <a:t>Not Provider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No Attestation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El </a:t>
            </a:r>
            <a:r>
              <a:rPr b="1" lang="en-GB"/>
              <a:t>tramo ascendente</a:t>
            </a:r>
            <a:r>
              <a:rPr lang="en-GB"/>
              <a:t> más largo se encuentra desde el </a:t>
            </a:r>
            <a:r>
              <a:rPr b="1" lang="en-GB"/>
              <a:t>ASN de origen</a:t>
            </a:r>
            <a:r>
              <a:rPr lang="en-GB"/>
              <a:t> hasta encontrar una relación </a:t>
            </a:r>
            <a:r>
              <a:rPr b="1" lang="en-GB"/>
              <a:t>“Not Provider”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El </a:t>
            </a:r>
            <a:r>
              <a:rPr b="1" lang="en-GB"/>
              <a:t>tramo descendente</a:t>
            </a:r>
            <a:r>
              <a:rPr lang="en-GB"/>
              <a:t> más largo se encuentra desde el </a:t>
            </a:r>
            <a:r>
              <a:rPr b="1" lang="en-GB"/>
              <a:t>ASN local</a:t>
            </a:r>
            <a:r>
              <a:rPr lang="en-GB"/>
              <a:t> hasta encontrar una relación </a:t>
            </a:r>
            <a:r>
              <a:rPr b="1" lang="en-GB"/>
              <a:t>“Not Provider”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La ruta </a:t>
            </a:r>
            <a:r>
              <a:rPr b="1" lang="en-GB"/>
              <a:t>solo es plausible</a:t>
            </a:r>
            <a:r>
              <a:rPr lang="en-GB"/>
              <a:t> si: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Los tramos </a:t>
            </a:r>
            <a:r>
              <a:rPr b="1" lang="en-GB"/>
              <a:t>ascendente</a:t>
            </a:r>
            <a:r>
              <a:rPr lang="en-GB"/>
              <a:t> y </a:t>
            </a:r>
            <a:r>
              <a:rPr b="1" lang="en-GB"/>
              <a:t>descendente</a:t>
            </a:r>
            <a:r>
              <a:rPr lang="en-GB"/>
              <a:t> se encuentran en </a:t>
            </a:r>
            <a:r>
              <a:rPr b="1" lang="en-GB"/>
              <a:t>pares contiguos</a:t>
            </a:r>
            <a:r>
              <a:rPr lang="en-GB"/>
              <a:t>, 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Los tramos </a:t>
            </a:r>
            <a:r>
              <a:rPr b="1" lang="en-GB"/>
              <a:t>ascendente</a:t>
            </a:r>
            <a:r>
              <a:rPr lang="en-GB"/>
              <a:t> y </a:t>
            </a:r>
            <a:r>
              <a:rPr b="1" lang="en-GB"/>
              <a:t>descendente</a:t>
            </a:r>
            <a:r>
              <a:rPr lang="en-GB"/>
              <a:t> se </a:t>
            </a:r>
            <a:r>
              <a:rPr b="1" lang="en-GB"/>
              <a:t>solapan </a:t>
            </a:r>
            <a:r>
              <a:rPr lang="en-GB"/>
              <a:t>(parcialmente)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GB"/>
              <a:t>Uno o más saltos entre los tramos </a:t>
            </a:r>
            <a:r>
              <a:rPr b="1" lang="en-GB"/>
              <a:t>ascendente</a:t>
            </a:r>
            <a:r>
              <a:rPr lang="en-GB"/>
              <a:t> y </a:t>
            </a:r>
            <a:r>
              <a:rPr b="1" lang="en-GB"/>
              <a:t>descendente</a:t>
            </a:r>
            <a:r>
              <a:rPr lang="en-GB"/>
              <a:t> son valles; dichas rutas son </a:t>
            </a:r>
            <a:r>
              <a:rPr b="1" lang="en-GB"/>
              <a:t>inválidas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AutoNum type="arabicPeriod"/>
            </a:pPr>
            <a:r>
              <a:rPr lang="en-GB"/>
              <a:t>Si se encuentra </a:t>
            </a:r>
            <a:r>
              <a:rPr b="1" lang="en-GB"/>
              <a:t>“No Attestation”</a:t>
            </a:r>
            <a:r>
              <a:rPr lang="en-GB"/>
              <a:t>, la ruta es </a:t>
            </a:r>
            <a:r>
              <a:rPr b="1" lang="en-GB"/>
              <a:t>desconocida</a:t>
            </a:r>
            <a:r>
              <a:rPr lang="en-GB"/>
              <a:t>. De lo contrario, es </a:t>
            </a:r>
            <a:r>
              <a:rPr b="1" lang="en-GB"/>
              <a:t>válida</a:t>
            </a:r>
            <a:r>
              <a:rPr lang="en-GB"/>
              <a:t>.</a:t>
            </a:r>
            <a:endParaRPr/>
          </a:p>
        </p:txBody>
      </p:sp>
      <p:sp>
        <p:nvSpPr>
          <p:cNvPr id="377" name="Google Shape;377;p33"/>
          <p:cNvSpPr txBox="1"/>
          <p:nvPr>
            <p:ph idx="1" type="subTitle"/>
          </p:nvPr>
        </p:nvSpPr>
        <p:spPr>
          <a:xfrm>
            <a:off x="311700" y="8759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Algoritmo de validación de la ruta descendente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>
            <p:ph idx="12" type="sldNum"/>
          </p:nvPr>
        </p:nvSpPr>
        <p:spPr>
          <a:xfrm>
            <a:off x="8655922" y="474989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Enrutamiento sin valles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1231638" y="34853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1231638" y="24909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2682763" y="348530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2682767" y="24909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4508459" y="2413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4508459" y="3484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Stub</a:t>
            </a:r>
            <a:endParaRPr/>
          </a:p>
        </p:txBody>
      </p:sp>
      <p:cxnSp>
        <p:nvCxnSpPr>
          <p:cNvPr id="390" name="Google Shape;390;p34"/>
          <p:cNvCxnSpPr>
            <a:stCxn id="384" idx="0"/>
            <a:endCxn id="385" idx="4"/>
          </p:cNvCxnSpPr>
          <p:nvPr/>
        </p:nvCxnSpPr>
        <p:spPr>
          <a:xfrm rot="10800000">
            <a:off x="1587738" y="320300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4"/>
          <p:cNvCxnSpPr>
            <a:stCxn id="385" idx="6"/>
            <a:endCxn id="387" idx="2"/>
          </p:cNvCxnSpPr>
          <p:nvPr/>
        </p:nvCxnSpPr>
        <p:spPr>
          <a:xfrm>
            <a:off x="1943838" y="2847050"/>
            <a:ext cx="73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2" name="Google Shape;392;p34"/>
          <p:cNvCxnSpPr>
            <a:stCxn id="386" idx="0"/>
            <a:endCxn id="387" idx="4"/>
          </p:cNvCxnSpPr>
          <p:nvPr/>
        </p:nvCxnSpPr>
        <p:spPr>
          <a:xfrm rot="10800000">
            <a:off x="3038863" y="320300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4"/>
          <p:cNvCxnSpPr>
            <a:stCxn id="394" idx="3"/>
            <a:endCxn id="388" idx="7"/>
          </p:cNvCxnSpPr>
          <p:nvPr/>
        </p:nvCxnSpPr>
        <p:spPr>
          <a:xfrm flipH="1">
            <a:off x="5116275" y="2027051"/>
            <a:ext cx="10479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95" name="Google Shape;395;p34"/>
          <p:cNvCxnSpPr>
            <a:stCxn id="388" idx="4"/>
            <a:endCxn id="389" idx="0"/>
          </p:cNvCxnSpPr>
          <p:nvPr/>
        </p:nvCxnSpPr>
        <p:spPr>
          <a:xfrm>
            <a:off x="4864559" y="3125700"/>
            <a:ext cx="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94" name="Google Shape;394;p34"/>
          <p:cNvSpPr/>
          <p:nvPr/>
        </p:nvSpPr>
        <p:spPr>
          <a:xfrm>
            <a:off x="6059876" y="1419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Tier-1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</a:t>
            </a:r>
            <a:endParaRPr/>
          </a:p>
        </p:txBody>
      </p:sp>
      <p:sp>
        <p:nvSpPr>
          <p:cNvPr id="396" name="Google Shape;396;p34"/>
          <p:cNvSpPr/>
          <p:nvPr/>
        </p:nvSpPr>
        <p:spPr>
          <a:xfrm>
            <a:off x="7023059" y="2413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</a:t>
            </a:r>
            <a:endParaRPr/>
          </a:p>
        </p:txBody>
      </p:sp>
      <p:cxnSp>
        <p:nvCxnSpPr>
          <p:cNvPr id="397" name="Google Shape;397;p34"/>
          <p:cNvCxnSpPr>
            <a:stCxn id="394" idx="5"/>
            <a:endCxn id="396" idx="1"/>
          </p:cNvCxnSpPr>
          <p:nvPr/>
        </p:nvCxnSpPr>
        <p:spPr>
          <a:xfrm>
            <a:off x="6667776" y="2027051"/>
            <a:ext cx="4596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98" name="Google Shape;398;p34"/>
          <p:cNvSpPr/>
          <p:nvPr/>
        </p:nvSpPr>
        <p:spPr>
          <a:xfrm>
            <a:off x="7034589" y="348405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</a:t>
            </a:r>
            <a:endParaRPr/>
          </a:p>
        </p:txBody>
      </p:sp>
      <p:cxnSp>
        <p:nvCxnSpPr>
          <p:cNvPr id="399" name="Google Shape;399;p34"/>
          <p:cNvCxnSpPr>
            <a:stCxn id="396" idx="4"/>
            <a:endCxn id="398" idx="0"/>
          </p:cNvCxnSpPr>
          <p:nvPr/>
        </p:nvCxnSpPr>
        <p:spPr>
          <a:xfrm>
            <a:off x="7379159" y="3125700"/>
            <a:ext cx="1140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00" name="Google Shape;400;p34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Ejemplos de rutas sin valles</a:t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909438" y="436010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2" name="Google Shape;402;p34"/>
          <p:cNvCxnSpPr>
            <a:stCxn id="384" idx="4"/>
            <a:endCxn id="401" idx="0"/>
          </p:cNvCxnSpPr>
          <p:nvPr/>
        </p:nvCxnSpPr>
        <p:spPr>
          <a:xfrm>
            <a:off x="1587738" y="419750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34"/>
          <p:cNvSpPr/>
          <p:nvPr/>
        </p:nvSpPr>
        <p:spPr>
          <a:xfrm>
            <a:off x="4186263" y="43588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4" name="Google Shape;404;p34"/>
          <p:cNvCxnSpPr>
            <a:endCxn id="403" idx="0"/>
          </p:cNvCxnSpPr>
          <p:nvPr/>
        </p:nvCxnSpPr>
        <p:spPr>
          <a:xfrm>
            <a:off x="4864563" y="419625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4"/>
          <p:cNvCxnSpPr/>
          <p:nvPr/>
        </p:nvCxnSpPr>
        <p:spPr>
          <a:xfrm rot="10800000">
            <a:off x="1104188" y="3027400"/>
            <a:ext cx="16800" cy="769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34"/>
          <p:cNvSpPr txBox="1"/>
          <p:nvPr/>
        </p:nvSpPr>
        <p:spPr>
          <a:xfrm>
            <a:off x="572300" y="32155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7" name="Google Shape;407;p34"/>
          <p:cNvSpPr txBox="1"/>
          <p:nvPr/>
        </p:nvSpPr>
        <p:spPr>
          <a:xfrm>
            <a:off x="4388500" y="141915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4266406" y="1585250"/>
            <a:ext cx="1479050" cy="2202925"/>
          </a:xfrm>
          <a:custGeom>
            <a:rect b="b" l="l" r="r" t="t"/>
            <a:pathLst>
              <a:path extrusionOk="0" h="88117" w="59162">
                <a:moveTo>
                  <a:pt x="2170" y="88117"/>
                </a:moveTo>
                <a:cubicBezTo>
                  <a:pt x="2642" y="77810"/>
                  <a:pt x="-4500" y="40959"/>
                  <a:pt x="4999" y="26273"/>
                </a:cubicBezTo>
                <a:cubicBezTo>
                  <a:pt x="14498" y="11587"/>
                  <a:pt x="50136" y="4379"/>
                  <a:pt x="59163" y="0"/>
                </a:cubicBezTo>
              </a:path>
            </a:pathLst>
          </a:cu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9" name="Google Shape;409;p34"/>
          <p:cNvSpPr/>
          <p:nvPr/>
        </p:nvSpPr>
        <p:spPr>
          <a:xfrm>
            <a:off x="7099550" y="1625675"/>
            <a:ext cx="1087650" cy="2273650"/>
          </a:xfrm>
          <a:custGeom>
            <a:rect b="b" l="l" r="r" t="t"/>
            <a:pathLst>
              <a:path extrusionOk="0" h="90946" w="43506">
                <a:moveTo>
                  <a:pt x="0" y="0"/>
                </a:moveTo>
                <a:cubicBezTo>
                  <a:pt x="6535" y="5996"/>
                  <a:pt x="32067" y="20816"/>
                  <a:pt x="39208" y="35974"/>
                </a:cubicBezTo>
                <a:cubicBezTo>
                  <a:pt x="46349" y="51132"/>
                  <a:pt x="42240" y="81784"/>
                  <a:pt x="42846" y="90946"/>
                </a:cubicBezTo>
              </a:path>
            </a:pathLst>
          </a:cu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410" name="Google Shape;410;p34"/>
          <p:cNvCxnSpPr/>
          <p:nvPr/>
        </p:nvCxnSpPr>
        <p:spPr>
          <a:xfrm>
            <a:off x="3597425" y="2970900"/>
            <a:ext cx="30300" cy="9297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1" name="Google Shape;411;p34"/>
          <p:cNvSpPr txBox="1"/>
          <p:nvPr/>
        </p:nvSpPr>
        <p:spPr>
          <a:xfrm>
            <a:off x="3263950" y="3899325"/>
            <a:ext cx="8589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8285100" y="2634900"/>
            <a:ext cx="8589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8" name="Google Shape;418;p35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Enrutamiento sin valles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5"/>
          <p:cNvSpPr/>
          <p:nvPr/>
        </p:nvSpPr>
        <p:spPr>
          <a:xfrm>
            <a:off x="353800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sp>
        <p:nvSpPr>
          <p:cNvPr id="420" name="Google Shape;420;p35"/>
          <p:cNvSpPr/>
          <p:nvPr/>
        </p:nvSpPr>
        <p:spPr>
          <a:xfrm>
            <a:off x="353800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2566913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422" name="Google Shape;422;p35"/>
          <p:cNvSpPr/>
          <p:nvPr/>
        </p:nvSpPr>
        <p:spPr>
          <a:xfrm>
            <a:off x="1804929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423" name="Google Shape;423;p35"/>
          <p:cNvSpPr/>
          <p:nvPr/>
        </p:nvSpPr>
        <p:spPr>
          <a:xfrm>
            <a:off x="3301497" y="248550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cxnSp>
        <p:nvCxnSpPr>
          <p:cNvPr id="424" name="Google Shape;424;p35"/>
          <p:cNvCxnSpPr>
            <a:stCxn id="419" idx="0"/>
            <a:endCxn id="420" idx="4"/>
          </p:cNvCxnSpPr>
          <p:nvPr/>
        </p:nvCxnSpPr>
        <p:spPr>
          <a:xfrm rot="10800000">
            <a:off x="709900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35"/>
          <p:cNvCxnSpPr>
            <a:stCxn id="420" idx="6"/>
            <a:endCxn id="422" idx="2"/>
          </p:cNvCxnSpPr>
          <p:nvPr/>
        </p:nvCxnSpPr>
        <p:spPr>
          <a:xfrm>
            <a:off x="1066000" y="2917800"/>
            <a:ext cx="73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6" name="Google Shape;426;p35"/>
          <p:cNvCxnSpPr>
            <a:stCxn id="421" idx="5"/>
            <a:endCxn id="423" idx="1"/>
          </p:cNvCxnSpPr>
          <p:nvPr/>
        </p:nvCxnSpPr>
        <p:spPr>
          <a:xfrm>
            <a:off x="3174814" y="2099051"/>
            <a:ext cx="2310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27" name="Google Shape;427;p35"/>
          <p:cNvCxnSpPr>
            <a:stCxn id="422" idx="7"/>
            <a:endCxn id="421" idx="3"/>
          </p:cNvCxnSpPr>
          <p:nvPr/>
        </p:nvCxnSpPr>
        <p:spPr>
          <a:xfrm flipH="1" rot="10800000">
            <a:off x="2412830" y="2098999"/>
            <a:ext cx="2583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p35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No libre de valles - leak por un peer contiguo</a:t>
            </a:r>
            <a:endParaRPr/>
          </a:p>
        </p:txBody>
      </p:sp>
      <p:cxnSp>
        <p:nvCxnSpPr>
          <p:cNvPr id="429" name="Google Shape;429;p35"/>
          <p:cNvCxnSpPr/>
          <p:nvPr/>
        </p:nvCxnSpPr>
        <p:spPr>
          <a:xfrm>
            <a:off x="1742700" y="3383875"/>
            <a:ext cx="91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5"/>
          <p:cNvSpPr/>
          <p:nvPr/>
        </p:nvSpPr>
        <p:spPr>
          <a:xfrm>
            <a:off x="31600" y="44308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31" name="Google Shape;431;p35"/>
          <p:cNvCxnSpPr>
            <a:endCxn id="430" idx="0"/>
          </p:cNvCxnSpPr>
          <p:nvPr/>
        </p:nvCxnSpPr>
        <p:spPr>
          <a:xfrm>
            <a:off x="709900" y="426825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5"/>
          <p:cNvSpPr txBox="1"/>
          <p:nvPr>
            <p:ph idx="2" type="body"/>
          </p:nvPr>
        </p:nvSpPr>
        <p:spPr>
          <a:xfrm>
            <a:off x="5504900" y="124210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Dado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AS5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=&gt; [ AS0 ] # sin proveedor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AS2 =&gt; [ AS1 ]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AS4 ve 1 </a:t>
            </a:r>
            <a:r>
              <a:rPr b="1" lang="en-GB" sz="1300">
                <a:solidFill>
                  <a:srgbClr val="F2673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 2 5 192.0.2.0/24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es “</a:t>
            </a:r>
            <a:r>
              <a:rPr lang="en-GB" sz="1300"/>
              <a:t>Not Provider</a:t>
            </a:r>
            <a:r>
              <a:rPr lang="en-GB" sz="1300"/>
              <a:t>” para AS2</a:t>
            </a:r>
            <a:br>
              <a:rPr lang="en-GB" sz="1300"/>
            </a:br>
            <a:r>
              <a:rPr b="1" lang="en-GB" sz="1300"/>
              <a:t>Asc.</a:t>
            </a:r>
            <a:r>
              <a:rPr b="1" lang="en-GB" sz="1300"/>
              <a:t>:             2 5</a:t>
            </a:r>
            <a:br>
              <a:rPr lang="en-GB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AS3 es “</a:t>
            </a:r>
            <a:r>
              <a:rPr lang="en-GB" sz="1300"/>
              <a:t>Not Provider</a:t>
            </a:r>
            <a:r>
              <a:rPr lang="en-GB" sz="1300"/>
              <a:t>” para AS1</a:t>
            </a:r>
            <a:br>
              <a:rPr lang="en-GB" sz="1300"/>
            </a:br>
            <a:r>
              <a:rPr b="1" lang="en-GB" sz="1300"/>
              <a:t>Desc.</a:t>
            </a:r>
            <a:r>
              <a:rPr b="1" lang="en-GB" sz="1300"/>
              <a:t>: 4 1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AS3</a:t>
            </a:r>
            <a:r>
              <a:rPr lang="en-GB" sz="1300"/>
              <a:t> es un valle, por lo tanto esto es </a:t>
            </a:r>
            <a:r>
              <a:rPr b="1" lang="en-GB" sz="1300"/>
              <a:t>invalido</a:t>
            </a:r>
            <a:r>
              <a:rPr lang="en-GB" sz="1300"/>
              <a:t>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/>
            </a:br>
            <a:endParaRPr sz="1300"/>
          </a:p>
        </p:txBody>
      </p:sp>
      <p:cxnSp>
        <p:nvCxnSpPr>
          <p:cNvPr id="433" name="Google Shape;433;p35"/>
          <p:cNvCxnSpPr/>
          <p:nvPr/>
        </p:nvCxnSpPr>
        <p:spPr>
          <a:xfrm rot="10800000">
            <a:off x="1226775" y="3138575"/>
            <a:ext cx="16800" cy="769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p35"/>
          <p:cNvSpPr txBox="1"/>
          <p:nvPr/>
        </p:nvSpPr>
        <p:spPr>
          <a:xfrm>
            <a:off x="1226775" y="33678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35" name="Google Shape;435;p35"/>
          <p:cNvCxnSpPr/>
          <p:nvPr/>
        </p:nvCxnSpPr>
        <p:spPr>
          <a:xfrm rot="10800000">
            <a:off x="3349800" y="1869450"/>
            <a:ext cx="347100" cy="533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6" name="Google Shape;436;p35"/>
          <p:cNvSpPr txBox="1"/>
          <p:nvPr/>
        </p:nvSpPr>
        <p:spPr>
          <a:xfrm>
            <a:off x="3588975" y="1877701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1787981" y="3325564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valley</a:t>
            </a:r>
            <a:endParaRPr sz="18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3" name="Google Shape;443;p36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Enrutamiento sin valles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/>
          <p:nvPr/>
        </p:nvSpPr>
        <p:spPr>
          <a:xfrm>
            <a:off x="353800" y="35560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AS6</a:t>
            </a:r>
            <a:endParaRPr/>
          </a:p>
        </p:txBody>
      </p:sp>
      <p:sp>
        <p:nvSpPr>
          <p:cNvPr id="445" name="Google Shape;445;p36"/>
          <p:cNvSpPr/>
          <p:nvPr/>
        </p:nvSpPr>
        <p:spPr>
          <a:xfrm>
            <a:off x="353800" y="25617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AS3</a:t>
            </a:r>
            <a:endParaRPr/>
          </a:p>
        </p:txBody>
      </p:sp>
      <p:sp>
        <p:nvSpPr>
          <p:cNvPr id="446" name="Google Shape;446;p36"/>
          <p:cNvSpPr/>
          <p:nvPr/>
        </p:nvSpPr>
        <p:spPr>
          <a:xfrm>
            <a:off x="1377308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AS1</a:t>
            </a:r>
            <a:endParaRPr/>
          </a:p>
        </p:txBody>
      </p:sp>
      <p:sp>
        <p:nvSpPr>
          <p:cNvPr id="447" name="Google Shape;447;p36"/>
          <p:cNvSpPr/>
          <p:nvPr/>
        </p:nvSpPr>
        <p:spPr>
          <a:xfrm>
            <a:off x="2111891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AS4</a:t>
            </a:r>
            <a:endParaRPr/>
          </a:p>
        </p:txBody>
      </p:sp>
      <p:cxnSp>
        <p:nvCxnSpPr>
          <p:cNvPr id="448" name="Google Shape;448;p36"/>
          <p:cNvCxnSpPr>
            <a:stCxn id="444" idx="0"/>
            <a:endCxn id="445" idx="4"/>
          </p:cNvCxnSpPr>
          <p:nvPr/>
        </p:nvCxnSpPr>
        <p:spPr>
          <a:xfrm rot="10800000">
            <a:off x="709900" y="3273750"/>
            <a:ext cx="0" cy="28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36"/>
          <p:cNvCxnSpPr>
            <a:stCxn id="445" idx="7"/>
            <a:endCxn id="446" idx="3"/>
          </p:cNvCxnSpPr>
          <p:nvPr/>
        </p:nvCxnSpPr>
        <p:spPr>
          <a:xfrm flipH="1" rot="10800000">
            <a:off x="961701" y="2098999"/>
            <a:ext cx="519900" cy="5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36"/>
          <p:cNvCxnSpPr>
            <a:stCxn id="446" idx="5"/>
            <a:endCxn id="447" idx="1"/>
          </p:cNvCxnSpPr>
          <p:nvPr/>
        </p:nvCxnSpPr>
        <p:spPr>
          <a:xfrm>
            <a:off x="1985208" y="2099051"/>
            <a:ext cx="2310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1" name="Google Shape;451;p36"/>
          <p:cNvSpPr/>
          <p:nvPr/>
        </p:nvSpPr>
        <p:spPr>
          <a:xfrm>
            <a:off x="3053708" y="149115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AS2</a:t>
            </a:r>
            <a:endParaRPr/>
          </a:p>
        </p:txBody>
      </p:sp>
      <p:sp>
        <p:nvSpPr>
          <p:cNvPr id="452" name="Google Shape;452;p36"/>
          <p:cNvSpPr/>
          <p:nvPr/>
        </p:nvSpPr>
        <p:spPr>
          <a:xfrm>
            <a:off x="4016891" y="2485500"/>
            <a:ext cx="712200" cy="71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AS5</a:t>
            </a:r>
            <a:endParaRPr/>
          </a:p>
        </p:txBody>
      </p:sp>
      <p:cxnSp>
        <p:nvCxnSpPr>
          <p:cNvPr id="453" name="Google Shape;453;p36"/>
          <p:cNvCxnSpPr>
            <a:stCxn id="451" idx="3"/>
            <a:endCxn id="447" idx="7"/>
          </p:cNvCxnSpPr>
          <p:nvPr/>
        </p:nvCxnSpPr>
        <p:spPr>
          <a:xfrm flipH="1">
            <a:off x="2719707" y="2099051"/>
            <a:ext cx="4383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54" name="Google Shape;454;p36"/>
          <p:cNvCxnSpPr>
            <a:stCxn id="451" idx="5"/>
            <a:endCxn id="452" idx="1"/>
          </p:cNvCxnSpPr>
          <p:nvPr/>
        </p:nvCxnSpPr>
        <p:spPr>
          <a:xfrm>
            <a:off x="3661608" y="2099051"/>
            <a:ext cx="459600" cy="4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5" name="Google Shape;455;p36"/>
          <p:cNvSpPr/>
          <p:nvPr/>
        </p:nvSpPr>
        <p:spPr>
          <a:xfrm>
            <a:off x="4028421" y="3556050"/>
            <a:ext cx="712200" cy="71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AS7</a:t>
            </a:r>
            <a:endParaRPr/>
          </a:p>
        </p:txBody>
      </p:sp>
      <p:cxnSp>
        <p:nvCxnSpPr>
          <p:cNvPr id="456" name="Google Shape;456;p36"/>
          <p:cNvCxnSpPr>
            <a:stCxn id="452" idx="4"/>
            <a:endCxn id="455" idx="0"/>
          </p:cNvCxnSpPr>
          <p:nvPr/>
        </p:nvCxnSpPr>
        <p:spPr>
          <a:xfrm>
            <a:off x="4372991" y="3197700"/>
            <a:ext cx="11400" cy="3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57" name="Google Shape;457;p36"/>
          <p:cNvSpPr txBox="1"/>
          <p:nvPr>
            <p:ph idx="1" type="subTitle"/>
          </p:nvPr>
        </p:nvSpPr>
        <p:spPr>
          <a:xfrm>
            <a:off x="311700" y="1047750"/>
            <a:ext cx="5717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No libre de valles - leak al segundo tránsito</a:t>
            </a:r>
            <a:endParaRPr/>
          </a:p>
        </p:txBody>
      </p:sp>
      <p:sp>
        <p:nvSpPr>
          <p:cNvPr id="458" name="Google Shape;458;p36"/>
          <p:cNvSpPr/>
          <p:nvPr/>
        </p:nvSpPr>
        <p:spPr>
          <a:xfrm>
            <a:off x="31600" y="4430850"/>
            <a:ext cx="1356600" cy="28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192.0.2.0/24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9" name="Google Shape;459;p36"/>
          <p:cNvCxnSpPr>
            <a:endCxn id="458" idx="0"/>
          </p:cNvCxnSpPr>
          <p:nvPr/>
        </p:nvCxnSpPr>
        <p:spPr>
          <a:xfrm>
            <a:off x="709900" y="4268250"/>
            <a:ext cx="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36"/>
          <p:cNvSpPr txBox="1"/>
          <p:nvPr>
            <p:ph idx="2" type="body"/>
          </p:nvPr>
        </p:nvSpPr>
        <p:spPr>
          <a:xfrm>
            <a:off x="5504900" y="1242100"/>
            <a:ext cx="3449100" cy="3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Dado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192.0.2.0/24 =&gt; AS6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AS1 =&gt; [ AS0 ] # 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sin proveedor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AS2 =&gt; [ AS0 ] # 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sin proveedor</a:t>
            </a:r>
            <a:b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</a:b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AS7 ve 5 2 </a:t>
            </a:r>
            <a:r>
              <a:rPr b="1" lang="en-GB" sz="1300">
                <a:solidFill>
                  <a:srgbClr val="F2673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-GB" sz="1300">
                <a:latin typeface="Courier New"/>
                <a:ea typeface="Courier New"/>
                <a:cs typeface="Courier New"/>
                <a:sym typeface="Courier New"/>
              </a:rPr>
              <a:t> 1 3 6 192.0.2.0/24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AS4 es “Not Provider” para AS1</a:t>
            </a:r>
            <a:br>
              <a:rPr lang="en-GB" sz="1300"/>
            </a:br>
            <a:r>
              <a:rPr b="1" lang="en-GB" sz="1300"/>
              <a:t>Asc.:             1 3 6</a:t>
            </a:r>
            <a:br>
              <a:rPr lang="en-GB" sz="1300"/>
            </a:b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AS4 is “Not Provider” para AS2</a:t>
            </a:r>
            <a:br>
              <a:rPr lang="en-GB" sz="1300"/>
            </a:br>
            <a:r>
              <a:rPr b="1" lang="en-GB" sz="1300"/>
              <a:t>Desc.: 5 2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/>
              <a:t>AS4</a:t>
            </a:r>
            <a:r>
              <a:rPr lang="en-GB" sz="1300"/>
              <a:t> es un valle, por lo tanto, esto es </a:t>
            </a:r>
            <a:r>
              <a:rPr b="1" lang="en-GB" sz="1300"/>
              <a:t>invalid</a:t>
            </a:r>
            <a:r>
              <a:rPr lang="en-GB" sz="1300"/>
              <a:t>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/>
            </a:br>
            <a:endParaRPr sz="1300"/>
          </a:p>
        </p:txBody>
      </p:sp>
      <p:cxnSp>
        <p:nvCxnSpPr>
          <p:cNvPr id="461" name="Google Shape;461;p36"/>
          <p:cNvCxnSpPr/>
          <p:nvPr/>
        </p:nvCxnSpPr>
        <p:spPr>
          <a:xfrm>
            <a:off x="1971300" y="3307675"/>
            <a:ext cx="91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36"/>
          <p:cNvSpPr txBox="1"/>
          <p:nvPr/>
        </p:nvSpPr>
        <p:spPr>
          <a:xfrm>
            <a:off x="1983872" y="3249364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valley</a:t>
            </a:r>
            <a:endParaRPr sz="18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1126466" y="2322350"/>
            <a:ext cx="427200" cy="1431025"/>
          </a:xfrm>
          <a:custGeom>
            <a:rect b="b" l="l" r="r" t="t"/>
            <a:pathLst>
              <a:path extrusionOk="0" h="57241" w="17088">
                <a:moveTo>
                  <a:pt x="1715" y="57241"/>
                </a:moveTo>
                <a:cubicBezTo>
                  <a:pt x="1606" y="51899"/>
                  <a:pt x="-1501" y="34726"/>
                  <a:pt x="1061" y="25186"/>
                </a:cubicBezTo>
                <a:cubicBezTo>
                  <a:pt x="3623" y="15646"/>
                  <a:pt x="14417" y="4198"/>
                  <a:pt x="17088" y="0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4" name="Google Shape;464;p36"/>
          <p:cNvSpPr txBox="1"/>
          <p:nvPr/>
        </p:nvSpPr>
        <p:spPr>
          <a:xfrm>
            <a:off x="1150575" y="28860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up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3153800" y="2957101"/>
            <a:ext cx="889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down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3565300" y="2338700"/>
            <a:ext cx="498800" cy="1242950"/>
          </a:xfrm>
          <a:custGeom>
            <a:rect b="b" l="l" r="r" t="t"/>
            <a:pathLst>
              <a:path extrusionOk="0" h="49718" w="19952">
                <a:moveTo>
                  <a:pt x="0" y="0"/>
                </a:moveTo>
                <a:cubicBezTo>
                  <a:pt x="2671" y="4852"/>
                  <a:pt x="12702" y="20825"/>
                  <a:pt x="16027" y="29111"/>
                </a:cubicBezTo>
                <a:cubicBezTo>
                  <a:pt x="19352" y="37397"/>
                  <a:pt x="19298" y="46284"/>
                  <a:pt x="19952" y="49718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Google Shape;471;p37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37"/>
          <p:cNvSpPr txBox="1"/>
          <p:nvPr/>
        </p:nvSpPr>
        <p:spPr>
          <a:xfrm>
            <a:off x="759050" y="3117475"/>
            <a:ext cx="60843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ASPA en el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panel de control RPKI</a:t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8" name="Google Shape;478;p38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Página de resumen</a:t>
            </a:r>
            <a:endParaRPr/>
          </a:p>
        </p:txBody>
      </p:sp>
      <p:pic>
        <p:nvPicPr>
          <p:cNvPr id="479" name="Google Shape;479;p38" title="Screenshot 2025-10-10 at 10.08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300" y="888575"/>
            <a:ext cx="7025398" cy="38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8"/>
          <p:cNvSpPr/>
          <p:nvPr/>
        </p:nvSpPr>
        <p:spPr>
          <a:xfrm>
            <a:off x="1282800" y="3392400"/>
            <a:ext cx="849600" cy="410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3638400" y="3392400"/>
            <a:ext cx="849600" cy="410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7" name="Google Shape;487;p39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Gestionar ASPA</a:t>
            </a:r>
            <a:endParaRPr/>
          </a:p>
        </p:txBody>
      </p:sp>
      <p:sp>
        <p:nvSpPr>
          <p:cNvPr id="488" name="Google Shape;488;p39"/>
          <p:cNvSpPr txBox="1"/>
          <p:nvPr>
            <p:ph idx="2" type="body"/>
          </p:nvPr>
        </p:nvSpPr>
        <p:spPr>
          <a:xfrm>
            <a:off x="311700" y="3153600"/>
            <a:ext cx="8088600" cy="130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/>
              <a:t>Las opciones de configuración de ASPA solo se muestran para </a:t>
            </a:r>
            <a:r>
              <a:rPr b="1" lang="en-GB" sz="1600"/>
              <a:t>los números AS asociados a tu cuenta</a:t>
            </a:r>
            <a:endParaRPr b="1" sz="1600"/>
          </a:p>
        </p:txBody>
      </p:sp>
      <p:pic>
        <p:nvPicPr>
          <p:cNvPr id="489" name="Google Shape;489;p39" title="Screenshot 2025-10-10 at 10.12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400" y="889200"/>
            <a:ext cx="7023601" cy="2209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0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5" name="Google Shape;495;p40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Crear / revisar ASPA</a:t>
            </a:r>
            <a:endParaRPr/>
          </a:p>
        </p:txBody>
      </p:sp>
      <p:sp>
        <p:nvSpPr>
          <p:cNvPr id="496" name="Google Shape;496;p40"/>
          <p:cNvSpPr txBox="1"/>
          <p:nvPr>
            <p:ph idx="2" type="body"/>
          </p:nvPr>
        </p:nvSpPr>
        <p:spPr>
          <a:xfrm>
            <a:off x="311700" y="3791650"/>
            <a:ext cx="8510700" cy="6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Debes comprobar qué proveedores incluir; no hay </a:t>
            </a:r>
            <a:r>
              <a:rPr b="1" lang="en-GB" sz="1800"/>
              <a:t>sugerencias</a:t>
            </a:r>
            <a:endParaRPr b="1" sz="1800"/>
          </a:p>
        </p:txBody>
      </p:sp>
      <p:pic>
        <p:nvPicPr>
          <p:cNvPr id="497" name="Google Shape;497;p40" title="Screenshot 2025-10-10 at 10.19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0665"/>
            <a:ext cx="4467425" cy="169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0" title="Screenshot 2025-10-10 at 10.20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972" y="1973400"/>
            <a:ext cx="4467427" cy="162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1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4" name="Google Shape;504;p41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¿Qué proveedores deben incluirse en tus objetos ASPA?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1"/>
          <p:cNvSpPr txBox="1"/>
          <p:nvPr>
            <p:ph idx="2" type="body"/>
          </p:nvPr>
        </p:nvSpPr>
        <p:spPr>
          <a:xfrm>
            <a:off x="311700" y="875073"/>
            <a:ext cx="8325300" cy="36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/>
              <a:t>¡Todos tus proveedores!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Incluidos los de </a:t>
            </a:r>
            <a:r>
              <a:rPr b="1" lang="en-GB" sz="1800"/>
              <a:t>respaldo</a:t>
            </a:r>
            <a:r>
              <a:rPr lang="en-GB" sz="1800"/>
              <a:t>, aunque no sean visibles en la ruta AS en este momento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/>
              <a:t>No tus peers laterales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Salvo aquellos pares que puedan actuar como tu proveedor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Incluye también los </a:t>
            </a:r>
            <a:r>
              <a:rPr b="1" lang="en-GB" sz="1800"/>
              <a:t>route servers no transparentes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De lo contrario, el AS del servidor de rutas no transparente sería considerado un valle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Haz de esto parte de tu procedimiento de </a:t>
            </a:r>
            <a:r>
              <a:rPr b="1" lang="en-GB" sz="1800"/>
              <a:t>actualización de IRR</a:t>
            </a:r>
            <a:endParaRPr b="1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p42"/>
          <p:cNvCxnSpPr/>
          <p:nvPr/>
        </p:nvCxnSpPr>
        <p:spPr>
          <a:xfrm>
            <a:off x="796800" y="4248557"/>
            <a:ext cx="6415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42"/>
          <p:cNvSpPr txBox="1"/>
          <p:nvPr/>
        </p:nvSpPr>
        <p:spPr>
          <a:xfrm>
            <a:off x="759050" y="3669450"/>
            <a:ext cx="83133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ASPA en los routers</a:t>
            </a:r>
            <a:endParaRPr b="1"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3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7" name="Google Shape;517;p43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Signing to Router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3"/>
          <p:cNvSpPr txBox="1"/>
          <p:nvPr>
            <p:ph idx="2" type="body"/>
          </p:nvPr>
        </p:nvSpPr>
        <p:spPr>
          <a:xfrm>
            <a:off x="409350" y="3277800"/>
            <a:ext cx="8325300" cy="13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/>
              <a:t>Mismo modelo de despliegue</a:t>
            </a:r>
            <a:r>
              <a:rPr lang="en-GB" sz="1800"/>
              <a:t> que la validación del origen BGP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800"/>
            </a:br>
            <a:endParaRPr sz="1800"/>
          </a:p>
        </p:txBody>
      </p:sp>
      <p:sp>
        <p:nvSpPr>
          <p:cNvPr id="519" name="Google Shape;519;p43"/>
          <p:cNvSpPr/>
          <p:nvPr/>
        </p:nvSpPr>
        <p:spPr>
          <a:xfrm>
            <a:off x="459000" y="1131200"/>
            <a:ext cx="1291200" cy="119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RPKI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CAs</a:t>
            </a:r>
            <a:br>
              <a:rPr lang="en-GB">
                <a:latin typeface="Verdana"/>
                <a:ea typeface="Verdana"/>
                <a:cs typeface="Verdana"/>
                <a:sym typeface="Verdana"/>
              </a:rPr>
            </a:br>
            <a:br>
              <a:rPr lang="en-GB">
                <a:latin typeface="Verdana"/>
                <a:ea typeface="Verdana"/>
                <a:cs typeface="Verdana"/>
                <a:sym typeface="Verdana"/>
              </a:rPr>
            </a:br>
            <a:r>
              <a:rPr lang="en-GB" sz="800">
                <a:latin typeface="Verdana"/>
                <a:ea typeface="Verdana"/>
                <a:cs typeface="Verdana"/>
                <a:sym typeface="Verdana"/>
              </a:rPr>
              <a:t>(panel de control RPKI)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5082200" y="1136400"/>
            <a:ext cx="1291200" cy="119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RPKI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Validador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2770601" y="1012825"/>
            <a:ext cx="1291200" cy="15495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RPKI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Repositorio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7393801" y="1012825"/>
            <a:ext cx="1291200" cy="15495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Router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23" name="Google Shape;523;p43"/>
          <p:cNvCxnSpPr>
            <a:endCxn id="521" idx="2"/>
          </p:cNvCxnSpPr>
          <p:nvPr/>
        </p:nvCxnSpPr>
        <p:spPr>
          <a:xfrm>
            <a:off x="1743101" y="1733575"/>
            <a:ext cx="1027500" cy="54000"/>
          </a:xfrm>
          <a:prstGeom prst="curvedConnector3">
            <a:avLst>
              <a:gd fmla="val 5027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4" name="Google Shape;524;p43"/>
          <p:cNvCxnSpPr>
            <a:stCxn id="520" idx="1"/>
            <a:endCxn id="521" idx="4"/>
          </p:cNvCxnSpPr>
          <p:nvPr/>
        </p:nvCxnSpPr>
        <p:spPr>
          <a:xfrm flipH="1">
            <a:off x="4061900" y="1733550"/>
            <a:ext cx="1020300" cy="54000"/>
          </a:xfrm>
          <a:prstGeom prst="curvedConnector3">
            <a:avLst>
              <a:gd fmla="val 5000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25" name="Google Shape;525;p43"/>
          <p:cNvCxnSpPr>
            <a:stCxn id="520" idx="3"/>
            <a:endCxn id="522" idx="2"/>
          </p:cNvCxnSpPr>
          <p:nvPr/>
        </p:nvCxnSpPr>
        <p:spPr>
          <a:xfrm>
            <a:off x="6373400" y="1733550"/>
            <a:ext cx="1020300" cy="54000"/>
          </a:xfrm>
          <a:prstGeom prst="curvedConnector3">
            <a:avLst>
              <a:gd fmla="val 5000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6" name="Google Shape;526;p43"/>
          <p:cNvSpPr txBox="1"/>
          <p:nvPr/>
        </p:nvSpPr>
        <p:spPr>
          <a:xfrm>
            <a:off x="1750200" y="1748700"/>
            <a:ext cx="1020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irmar &amp;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publicar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7" name="Google Shape;527;p43"/>
          <p:cNvSpPr txBox="1"/>
          <p:nvPr/>
        </p:nvSpPr>
        <p:spPr>
          <a:xfrm>
            <a:off x="4061900" y="1816100"/>
            <a:ext cx="10275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  validar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8" name="Google Shape;528;p43"/>
          <p:cNvSpPr txBox="1"/>
          <p:nvPr/>
        </p:nvSpPr>
        <p:spPr>
          <a:xfrm>
            <a:off x="6369800" y="1783825"/>
            <a:ext cx="10275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rtr</a:t>
            </a:r>
            <a:b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GB" sz="1300">
                <a:solidFill>
                  <a:srgbClr val="25316A"/>
                </a:solidFill>
                <a:latin typeface="Verdana"/>
                <a:ea typeface="Verdana"/>
                <a:cs typeface="Verdana"/>
                <a:sym typeface="Verdana"/>
              </a:rPr>
              <a:t>protocolo</a:t>
            </a:r>
            <a:endParaRPr sz="1300">
              <a:solidFill>
                <a:srgbClr val="25316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/>
          <p:nvPr>
            <p:ph idx="12" type="sldNum"/>
          </p:nvPr>
        </p:nvSpPr>
        <p:spPr>
          <a:xfrm>
            <a:off x="8326797" y="4751140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4" name="Google Shape;534;p44"/>
          <p:cNvSpPr txBox="1"/>
          <p:nvPr>
            <p:ph type="title"/>
          </p:nvPr>
        </p:nvSpPr>
        <p:spPr>
          <a:xfrm>
            <a:off x="311700" y="219600"/>
            <a:ext cx="7703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Despliegue de la validación ASPA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4"/>
          <p:cNvSpPr txBox="1"/>
          <p:nvPr>
            <p:ph idx="2" type="body"/>
          </p:nvPr>
        </p:nvSpPr>
        <p:spPr>
          <a:xfrm>
            <a:off x="311700" y="823050"/>
            <a:ext cx="8325300" cy="3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26738"/>
                </a:solidFill>
              </a:rPr>
              <a:t>Puntos claves </a:t>
            </a:r>
            <a:endParaRPr b="1" sz="1800">
              <a:solidFill>
                <a:srgbClr val="F267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Al igual que con la </a:t>
            </a:r>
            <a:r>
              <a:rPr b="1" lang="en-GB" sz="1800"/>
              <a:t>validación del origen BGP:</a:t>
            </a:r>
            <a:r>
              <a:rPr lang="en-GB" sz="1800"/>
              <a:t> rechaza lo inválido, no te limites a reducir la preferencia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Usa “</a:t>
            </a:r>
            <a:r>
              <a:rPr b="1" lang="en-GB" sz="1800"/>
              <a:t>Validación de la ruta ascendente”</a:t>
            </a:r>
            <a:r>
              <a:rPr lang="en-GB" sz="1800"/>
              <a:t> para tus </a:t>
            </a:r>
            <a:r>
              <a:rPr b="1" lang="en-GB" sz="1800"/>
              <a:t>clientes y peers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Usa </a:t>
            </a:r>
            <a:r>
              <a:rPr b="1" lang="en-GB" sz="1800"/>
              <a:t>“Validación de la ruta descendente”</a:t>
            </a:r>
            <a:r>
              <a:rPr lang="en-GB" sz="1800"/>
              <a:t> para tus </a:t>
            </a:r>
            <a:r>
              <a:rPr b="1" lang="en-GB" sz="1800"/>
              <a:t>proveedores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26738"/>
                </a:solidFill>
              </a:rPr>
              <a:t>Pero es pronto</a:t>
            </a:r>
            <a:endParaRPr b="1" sz="1800">
              <a:solidFill>
                <a:srgbClr val="F267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Todavía no está disponible en muchos routers; ¡habla con tu proveedor!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Conviene empezar registrando tus upstream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 sz="1800"/>
              <a:t>Advierte a tus clientes si </a:t>
            </a:r>
            <a:r>
              <a:rPr b="1" lang="en-GB" sz="1800"/>
              <a:t>no te incluyeron como upstream</a:t>
            </a:r>
            <a:endParaRPr b="1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45"/>
          <p:cNvPicPr preferRelativeResize="0"/>
          <p:nvPr/>
        </p:nvPicPr>
        <p:blipFill rotWithShape="1">
          <a:blip r:embed="rId3">
            <a:alphaModFix/>
          </a:blip>
          <a:srcRect b="169" l="0" r="0" t="179"/>
          <a:stretch/>
        </p:blipFill>
        <p:spPr>
          <a:xfrm>
            <a:off x="-16187" y="0"/>
            <a:ext cx="91763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3650" y="245960"/>
            <a:ext cx="42672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5"/>
          <p:cNvSpPr txBox="1"/>
          <p:nvPr/>
        </p:nvSpPr>
        <p:spPr>
          <a:xfrm>
            <a:off x="1487400" y="1713825"/>
            <a:ext cx="39261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Preguntas y comentarios</a:t>
            </a:r>
            <a:endParaRPr b="1" sz="4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3" name="Google Shape;543;p45"/>
          <p:cNvSpPr txBox="1"/>
          <p:nvPr/>
        </p:nvSpPr>
        <p:spPr>
          <a:xfrm>
            <a:off x="5413375" y="1456925"/>
            <a:ext cx="1455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200">
                <a:solidFill>
                  <a:srgbClr val="F26738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1" sz="12200">
              <a:solidFill>
                <a:srgbClr val="F2673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44" name="Google Shape;544;p45"/>
          <p:cNvGrpSpPr/>
          <p:nvPr/>
        </p:nvGrpSpPr>
        <p:grpSpPr>
          <a:xfrm>
            <a:off x="1487397" y="3694400"/>
            <a:ext cx="3176027" cy="431100"/>
            <a:chOff x="4110272" y="3687250"/>
            <a:chExt cx="3176027" cy="431100"/>
          </a:xfrm>
        </p:grpSpPr>
        <p:sp>
          <p:nvSpPr>
            <p:cNvPr id="545" name="Google Shape;545;p45"/>
            <p:cNvSpPr txBox="1"/>
            <p:nvPr/>
          </p:nvSpPr>
          <p:spPr>
            <a:xfrm>
              <a:off x="4456700" y="3687250"/>
              <a:ext cx="282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u="sng">
                  <a:solidFill>
                    <a:schemeClr val="hlink"/>
                  </a:solidFill>
                  <a:latin typeface="Verdana"/>
                  <a:ea typeface="Verdana"/>
                  <a:cs typeface="Verdana"/>
                  <a:sym typeface="Verdana"/>
                  <a:hlinkClick r:id="rId5"/>
                </a:rPr>
                <a:t>cberto</a:t>
              </a:r>
              <a:r>
                <a:rPr lang="en-GB" sz="1600" u="sng">
                  <a:solidFill>
                    <a:schemeClr val="hlink"/>
                  </a:solidFill>
                  <a:latin typeface="Verdana"/>
                  <a:ea typeface="Verdana"/>
                  <a:cs typeface="Verdana"/>
                  <a:sym typeface="Verdana"/>
                  <a:hlinkClick r:id="rId6"/>
                </a:rPr>
                <a:t>@ripe.net</a:t>
              </a:r>
              <a:endParaRPr sz="1600">
                <a:solidFill>
                  <a:srgbClr val="F26738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546" name="Google Shape;546;p45"/>
            <p:cNvGrpSpPr/>
            <p:nvPr/>
          </p:nvGrpSpPr>
          <p:grpSpPr>
            <a:xfrm>
              <a:off x="4110272" y="3753111"/>
              <a:ext cx="346431" cy="346431"/>
              <a:chOff x="4497725" y="1397950"/>
              <a:chExt cx="683700" cy="683700"/>
            </a:xfrm>
          </p:grpSpPr>
          <p:sp>
            <p:nvSpPr>
              <p:cNvPr id="547" name="Google Shape;547;p45"/>
              <p:cNvSpPr/>
              <p:nvPr/>
            </p:nvSpPr>
            <p:spPr>
              <a:xfrm>
                <a:off x="4497725" y="1397950"/>
                <a:ext cx="683700" cy="683700"/>
              </a:xfrm>
              <a:prstGeom prst="ellipse">
                <a:avLst/>
              </a:prstGeom>
              <a:solidFill>
                <a:srgbClr val="F267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pic>
            <p:nvPicPr>
              <p:cNvPr id="548" name="Google Shape;548;p45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669363" y="1569588"/>
                <a:ext cx="340425" cy="340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PE NCC - Mai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