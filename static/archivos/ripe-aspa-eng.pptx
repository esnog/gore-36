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adar.cloudflare.com/routing/rpki#rpki-aspa-deploymen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68a60c1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68a60c1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 and good morning,</a:t>
            </a:r>
            <a:br>
              <a:rPr lang="en-GB"/>
            </a:br>
            <a:r>
              <a:rPr lang="en-GB"/>
              <a:t>My name is Carlo and today I’m going to talk about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6e29b8a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6e29b8a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e29b8a8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6e29b8a8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6e29b8a8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6e29b8a8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6e29b8a8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6e29b8a8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e29b8a8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6e29b8a8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e29b8a8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e29b8a8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6e29b8a8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6e29b8a8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6e29b8a8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6e29b8a8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6e29b8a8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6e29b8a8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6e29b8a8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6e29b8a8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097b503d0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097b503d0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b12070f5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b12070f5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09b224f7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09b224f7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12be1408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412be1408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e528adc22_1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4e528adc22_1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5e2ed76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35e2ed76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09b224f7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09b224f7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99013516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899013516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99013516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899013516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99013516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99013516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defa96a3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defa96a3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990135163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899013516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983b5f6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8983b5f6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4e528adc22_1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4e528adc22_1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8990135163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8990135163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99013516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899013516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899013516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899013516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990135163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899013516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4e528adc22_1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4e528adc22_1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899013516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899013516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40979d34f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40979d34f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 2k aspa’s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https://radar.cloudflare.com/routing/rpki#rpki-aspa-deployment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1.3k RIPE NCC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500 ARIN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APNIC and LACNIC less than 100 both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 + image" type="title">
  <p:cSld name="TITLE">
    <p:bg>
      <p:bgPr>
        <a:solidFill>
          <a:schemeClr val="lt2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600"/>
              <a:buNone/>
              <a:defRPr sz="16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11700" y="1504950"/>
            <a:ext cx="53937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11700" y="1447800"/>
            <a:ext cx="3326700" cy="30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3943350" y="1447800"/>
            <a:ext cx="4917000" cy="321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20" name="Google Shape;20;p2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Ralph Smit | NetUK 3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July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TITLE_3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600"/>
              <a:buNone/>
              <a:defRPr sz="16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3"/>
          <p:cNvSpPr txBox="1"/>
          <p:nvPr/>
        </p:nvSpPr>
        <p:spPr>
          <a:xfrm>
            <a:off x="311700" y="1504950"/>
            <a:ext cx="53937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33" name="Google Shape;33;p3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</a:t>
              </a: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text">
  <p:cSld name="TITLE_2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311700" y="1504950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4"/>
          <p:cNvSpPr txBox="1"/>
          <p:nvPr>
            <p:ph idx="2" type="title"/>
          </p:nvPr>
        </p:nvSpPr>
        <p:spPr>
          <a:xfrm>
            <a:off x="311700" y="972075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600"/>
              <a:buFont typeface="Verdana"/>
              <a:buNone/>
              <a:defRPr b="1" sz="16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3" type="subTitle"/>
          </p:nvPr>
        </p:nvSpPr>
        <p:spPr>
          <a:xfrm>
            <a:off x="3301888" y="1504950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4"/>
          <p:cNvSpPr txBox="1"/>
          <p:nvPr>
            <p:ph idx="4" type="body"/>
          </p:nvPr>
        </p:nvSpPr>
        <p:spPr>
          <a:xfrm>
            <a:off x="3301888" y="1838850"/>
            <a:ext cx="2568300" cy="28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6292075" y="1504950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3" name="Google Shape;43;p4"/>
          <p:cNvSpPr txBox="1"/>
          <p:nvPr>
            <p:ph idx="6" type="body"/>
          </p:nvPr>
        </p:nvSpPr>
        <p:spPr>
          <a:xfrm>
            <a:off x="6292075" y="1838850"/>
            <a:ext cx="2568300" cy="28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4" name="Google Shape;44;p4"/>
          <p:cNvSpPr txBox="1"/>
          <p:nvPr>
            <p:ph idx="7" type="body"/>
          </p:nvPr>
        </p:nvSpPr>
        <p:spPr>
          <a:xfrm>
            <a:off x="311725" y="1838850"/>
            <a:ext cx="2568300" cy="25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grpSp>
        <p:nvGrpSpPr>
          <p:cNvPr id="45" name="Google Shape;45;p4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46" name="Google Shape;46;p4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49" name="Google Shape;49;p4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text + photos">
  <p:cSld name="TITLE_2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subTitle"/>
          </p:nvPr>
        </p:nvSpPr>
        <p:spPr>
          <a:xfrm>
            <a:off x="311700" y="2809875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5"/>
          <p:cNvSpPr txBox="1"/>
          <p:nvPr>
            <p:ph idx="2" type="body"/>
          </p:nvPr>
        </p:nvSpPr>
        <p:spPr>
          <a:xfrm>
            <a:off x="311700" y="3143775"/>
            <a:ext cx="25683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" name="Google Shape;57;p5"/>
          <p:cNvSpPr txBox="1"/>
          <p:nvPr>
            <p:ph idx="3" type="subTitle"/>
          </p:nvPr>
        </p:nvSpPr>
        <p:spPr>
          <a:xfrm>
            <a:off x="3301888" y="2809875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5"/>
          <p:cNvSpPr txBox="1"/>
          <p:nvPr>
            <p:ph idx="4" type="body"/>
          </p:nvPr>
        </p:nvSpPr>
        <p:spPr>
          <a:xfrm>
            <a:off x="3301900" y="3143775"/>
            <a:ext cx="25683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9" name="Google Shape;59;p5"/>
          <p:cNvSpPr txBox="1"/>
          <p:nvPr>
            <p:ph idx="5" type="subTitle"/>
          </p:nvPr>
        </p:nvSpPr>
        <p:spPr>
          <a:xfrm>
            <a:off x="6292075" y="2809875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0" name="Google Shape;60;p5"/>
          <p:cNvSpPr txBox="1"/>
          <p:nvPr>
            <p:ph idx="6" type="body"/>
          </p:nvPr>
        </p:nvSpPr>
        <p:spPr>
          <a:xfrm>
            <a:off x="6292100" y="3143775"/>
            <a:ext cx="25683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61" name="Google Shape;61;p5"/>
          <p:cNvSpPr/>
          <p:nvPr>
            <p:ph idx="7" type="pic"/>
          </p:nvPr>
        </p:nvSpPr>
        <p:spPr>
          <a:xfrm>
            <a:off x="342900" y="972075"/>
            <a:ext cx="25371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5"/>
          <p:cNvSpPr/>
          <p:nvPr>
            <p:ph idx="8" type="pic"/>
          </p:nvPr>
        </p:nvSpPr>
        <p:spPr>
          <a:xfrm>
            <a:off x="3303450" y="972075"/>
            <a:ext cx="25371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5"/>
          <p:cNvSpPr/>
          <p:nvPr>
            <p:ph idx="9" type="pic"/>
          </p:nvPr>
        </p:nvSpPr>
        <p:spPr>
          <a:xfrm>
            <a:off x="6264000" y="972075"/>
            <a:ext cx="2537100" cy="1666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" name="Google Shape;64;p5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65" name="Google Shape;65;p5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68" name="Google Shape;68;p5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age - 5 Column text &amp; photos">
  <p:cSld name="TITLE_2_1_1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idx="1" type="body"/>
          </p:nvPr>
        </p:nvSpPr>
        <p:spPr>
          <a:xfrm>
            <a:off x="69971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2" name="Google Shape;72;p6"/>
          <p:cNvSpPr txBox="1"/>
          <p:nvPr>
            <p:ph idx="2" type="body"/>
          </p:nvPr>
        </p:nvSpPr>
        <p:spPr>
          <a:xfrm>
            <a:off x="69971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3" name="Google Shape;73;p6"/>
          <p:cNvSpPr/>
          <p:nvPr>
            <p:ph idx="3" type="pic"/>
          </p:nvPr>
        </p:nvSpPr>
        <p:spPr>
          <a:xfrm>
            <a:off x="71552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6"/>
          <p:cNvSpPr/>
          <p:nvPr>
            <p:ph idx="4" type="pic"/>
          </p:nvPr>
        </p:nvSpPr>
        <p:spPr>
          <a:xfrm>
            <a:off x="71552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6"/>
          <p:cNvSpPr txBox="1"/>
          <p:nvPr>
            <p:ph idx="5" type="body"/>
          </p:nvPr>
        </p:nvSpPr>
        <p:spPr>
          <a:xfrm>
            <a:off x="69971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6" name="Google Shape;76;p6"/>
          <p:cNvSpPr txBox="1"/>
          <p:nvPr>
            <p:ph idx="6" type="body"/>
          </p:nvPr>
        </p:nvSpPr>
        <p:spPr>
          <a:xfrm>
            <a:off x="69971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7" name="Google Shape;77;p6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/>
          <p:cNvSpPr/>
          <p:nvPr>
            <p:ph idx="7" type="pic"/>
          </p:nvPr>
        </p:nvSpPr>
        <p:spPr>
          <a:xfrm>
            <a:off x="4698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" name="Google Shape;81;p6"/>
          <p:cNvSpPr txBox="1"/>
          <p:nvPr>
            <p:ph idx="8" type="body"/>
          </p:nvPr>
        </p:nvSpPr>
        <p:spPr>
          <a:xfrm>
            <a:off x="3117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2" name="Google Shape;82;p6"/>
          <p:cNvSpPr txBox="1"/>
          <p:nvPr>
            <p:ph idx="9" type="body"/>
          </p:nvPr>
        </p:nvSpPr>
        <p:spPr>
          <a:xfrm>
            <a:off x="3117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3" name="Google Shape;83;p6"/>
          <p:cNvSpPr/>
          <p:nvPr>
            <p:ph idx="13" type="pic"/>
          </p:nvPr>
        </p:nvSpPr>
        <p:spPr>
          <a:xfrm>
            <a:off x="21341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6"/>
          <p:cNvSpPr txBox="1"/>
          <p:nvPr>
            <p:ph idx="14" type="body"/>
          </p:nvPr>
        </p:nvSpPr>
        <p:spPr>
          <a:xfrm>
            <a:off x="19760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5" name="Google Shape;85;p6"/>
          <p:cNvSpPr txBox="1"/>
          <p:nvPr>
            <p:ph idx="15" type="body"/>
          </p:nvPr>
        </p:nvSpPr>
        <p:spPr>
          <a:xfrm>
            <a:off x="19760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6" name="Google Shape;86;p6"/>
          <p:cNvSpPr/>
          <p:nvPr>
            <p:ph idx="16" type="pic"/>
          </p:nvPr>
        </p:nvSpPr>
        <p:spPr>
          <a:xfrm>
            <a:off x="38078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6"/>
          <p:cNvSpPr txBox="1"/>
          <p:nvPr>
            <p:ph idx="17" type="body"/>
          </p:nvPr>
        </p:nvSpPr>
        <p:spPr>
          <a:xfrm>
            <a:off x="36497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8" name="Google Shape;88;p6"/>
          <p:cNvSpPr txBox="1"/>
          <p:nvPr>
            <p:ph idx="18" type="body"/>
          </p:nvPr>
        </p:nvSpPr>
        <p:spPr>
          <a:xfrm>
            <a:off x="36497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9" name="Google Shape;89;p6"/>
          <p:cNvSpPr/>
          <p:nvPr>
            <p:ph idx="19" type="pic"/>
          </p:nvPr>
        </p:nvSpPr>
        <p:spPr>
          <a:xfrm>
            <a:off x="54815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6"/>
          <p:cNvSpPr txBox="1"/>
          <p:nvPr>
            <p:ph idx="20" type="body"/>
          </p:nvPr>
        </p:nvSpPr>
        <p:spPr>
          <a:xfrm>
            <a:off x="53234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1" name="Google Shape;91;p6"/>
          <p:cNvSpPr txBox="1"/>
          <p:nvPr>
            <p:ph idx="21" type="body"/>
          </p:nvPr>
        </p:nvSpPr>
        <p:spPr>
          <a:xfrm>
            <a:off x="53234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2" name="Google Shape;92;p6"/>
          <p:cNvSpPr/>
          <p:nvPr>
            <p:ph idx="22" type="pic"/>
          </p:nvPr>
        </p:nvSpPr>
        <p:spPr>
          <a:xfrm>
            <a:off x="4698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6"/>
          <p:cNvSpPr txBox="1"/>
          <p:nvPr>
            <p:ph idx="23" type="body"/>
          </p:nvPr>
        </p:nvSpPr>
        <p:spPr>
          <a:xfrm>
            <a:off x="3117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4" name="Google Shape;94;p6"/>
          <p:cNvSpPr txBox="1"/>
          <p:nvPr>
            <p:ph idx="24" type="body"/>
          </p:nvPr>
        </p:nvSpPr>
        <p:spPr>
          <a:xfrm>
            <a:off x="3117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5" name="Google Shape;95;p6"/>
          <p:cNvSpPr/>
          <p:nvPr>
            <p:ph idx="25" type="pic"/>
          </p:nvPr>
        </p:nvSpPr>
        <p:spPr>
          <a:xfrm>
            <a:off x="21341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p6"/>
          <p:cNvSpPr txBox="1"/>
          <p:nvPr>
            <p:ph idx="26" type="body"/>
          </p:nvPr>
        </p:nvSpPr>
        <p:spPr>
          <a:xfrm>
            <a:off x="19760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7" name="Google Shape;97;p6"/>
          <p:cNvSpPr txBox="1"/>
          <p:nvPr>
            <p:ph idx="27" type="body"/>
          </p:nvPr>
        </p:nvSpPr>
        <p:spPr>
          <a:xfrm>
            <a:off x="19760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8" name="Google Shape;98;p6"/>
          <p:cNvSpPr/>
          <p:nvPr>
            <p:ph idx="28" type="pic"/>
          </p:nvPr>
        </p:nvSpPr>
        <p:spPr>
          <a:xfrm>
            <a:off x="38078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6"/>
          <p:cNvSpPr txBox="1"/>
          <p:nvPr>
            <p:ph idx="29" type="body"/>
          </p:nvPr>
        </p:nvSpPr>
        <p:spPr>
          <a:xfrm>
            <a:off x="36497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0" name="Google Shape;100;p6"/>
          <p:cNvSpPr txBox="1"/>
          <p:nvPr>
            <p:ph idx="30" type="body"/>
          </p:nvPr>
        </p:nvSpPr>
        <p:spPr>
          <a:xfrm>
            <a:off x="36497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1" name="Google Shape;101;p6"/>
          <p:cNvSpPr/>
          <p:nvPr>
            <p:ph idx="31" type="pic"/>
          </p:nvPr>
        </p:nvSpPr>
        <p:spPr>
          <a:xfrm>
            <a:off x="54815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6"/>
          <p:cNvSpPr txBox="1"/>
          <p:nvPr>
            <p:ph idx="32" type="body"/>
          </p:nvPr>
        </p:nvSpPr>
        <p:spPr>
          <a:xfrm>
            <a:off x="53234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3" name="Google Shape;103;p6"/>
          <p:cNvSpPr txBox="1"/>
          <p:nvPr>
            <p:ph idx="33" type="body"/>
          </p:nvPr>
        </p:nvSpPr>
        <p:spPr>
          <a:xfrm>
            <a:off x="53234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grpSp>
        <p:nvGrpSpPr>
          <p:cNvPr id="104" name="Google Shape;104;p6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105" name="Google Shape;105;p6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108" name="Google Shape;108;p6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9" name="Google Shape;109;p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file Page - 1 Column text + 1 photo">
  <p:cSld name="TITLE_2_1_1_1"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332400" y="1032475"/>
            <a:ext cx="3240000" cy="324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4022700" y="2317150"/>
            <a:ext cx="4425300" cy="8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3" type="title"/>
          </p:nvPr>
        </p:nvSpPr>
        <p:spPr>
          <a:xfrm>
            <a:off x="4022700" y="1910100"/>
            <a:ext cx="4425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2000"/>
              <a:buFont typeface="Verdana"/>
              <a:buNone/>
              <a:defRPr b="1" sz="20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7"/>
          <p:cNvSpPr txBox="1"/>
          <p:nvPr>
            <p:ph idx="4" type="body"/>
          </p:nvPr>
        </p:nvSpPr>
        <p:spPr>
          <a:xfrm>
            <a:off x="4466409" y="4319850"/>
            <a:ext cx="4304100" cy="2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●"/>
              <a:defRPr b="0" sz="1400">
                <a:solidFill>
                  <a:srgbClr val="F26738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○"/>
              <a:defRPr b="0" sz="1400">
                <a:solidFill>
                  <a:srgbClr val="F26738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■"/>
              <a:defRPr>
                <a:solidFill>
                  <a:srgbClr val="F26738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●"/>
              <a:defRPr>
                <a:solidFill>
                  <a:srgbClr val="F26738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○"/>
              <a:defRPr>
                <a:solidFill>
                  <a:srgbClr val="F26738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■"/>
              <a:defRPr>
                <a:solidFill>
                  <a:srgbClr val="F26738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●"/>
              <a:defRPr>
                <a:solidFill>
                  <a:srgbClr val="F26738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○"/>
              <a:defRPr>
                <a:solidFill>
                  <a:srgbClr val="F26738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■"/>
              <a:defRPr>
                <a:solidFill>
                  <a:srgbClr val="F26738"/>
                </a:solidFill>
              </a:defRPr>
            </a:lvl9pPr>
          </a:lstStyle>
          <a:p/>
        </p:txBody>
      </p:sp>
      <p:grpSp>
        <p:nvGrpSpPr>
          <p:cNvPr id="119" name="Google Shape;119;p7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120" name="Google Shape;120;p7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121" name="Google Shape;121;p7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123" name="Google Shape;123;p7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TITLE_2_1_1_1_1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8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32375" y="25"/>
            <a:ext cx="91763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75" y="481925"/>
            <a:ext cx="2494949" cy="6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TITLE_2_1_1_1_1_2"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32375" y="25"/>
            <a:ext cx="91763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650" y="245960"/>
            <a:ext cx="426720" cy="4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2_1_1_1_1_1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16187" y="0"/>
            <a:ext cx="91763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1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650" y="245960"/>
            <a:ext cx="426720" cy="4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">
  <p:cSld name="BLANK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8513833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16187" y="0"/>
            <a:ext cx="91763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">
  <p:cSld name="BLANK_1_1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8513833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16175" y="0"/>
            <a:ext cx="91763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1339752"/>
            <a:ext cx="4884600" cy="2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Char char="●"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600"/>
              <a:buFont typeface="Verdana"/>
              <a:buChar char="○"/>
              <a:defRPr b="1" sz="16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■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●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○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■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●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○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■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https://irrexplorer.nlnog.ne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hyperlink" Target="mailto:ralph.smit@ripe.net" TargetMode="External"/><Relationship Id="rId6" Type="http://schemas.openxmlformats.org/officeDocument/2006/relationships/hyperlink" Target="mailto:ralph.smit@ripe.net" TargetMode="External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75" y="481925"/>
            <a:ext cx="2494949" cy="6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3706900" y="1950750"/>
            <a:ext cx="4961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Autonomous System Provider Authorisation</a:t>
            </a:r>
            <a:endParaRPr b="1" sz="3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48" name="Google Shape;148;p14"/>
          <p:cNvCxnSpPr/>
          <p:nvPr/>
        </p:nvCxnSpPr>
        <p:spPr>
          <a:xfrm>
            <a:off x="3700150" y="3189625"/>
            <a:ext cx="3789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4"/>
          <p:cNvSpPr txBox="1"/>
          <p:nvPr/>
        </p:nvSpPr>
        <p:spPr>
          <a:xfrm>
            <a:off x="3706900" y="4678125"/>
            <a:ext cx="40080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Carlo Berto | ESNOG | </a:t>
            </a:r>
            <a:r>
              <a:rPr lang="en-GB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October 2026</a:t>
            </a:r>
            <a:endParaRPr b="1" sz="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3706900" y="3291825"/>
            <a:ext cx="4343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New tool for routing security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5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5"/>
          <p:cNvSpPr txBox="1"/>
          <p:nvPr/>
        </p:nvSpPr>
        <p:spPr>
          <a:xfrm>
            <a:off x="759050" y="3570578"/>
            <a:ext cx="8313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Current Routing Security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Need for Routing security</a:t>
            </a:r>
            <a:endParaRPr/>
          </a:p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BGP is based on trust</a:t>
            </a:r>
            <a:endParaRPr/>
          </a:p>
        </p:txBody>
      </p:sp>
      <p:sp>
        <p:nvSpPr>
          <p:cNvPr id="164" name="Google Shape;164;p16"/>
          <p:cNvSpPr txBox="1"/>
          <p:nvPr>
            <p:ph idx="2" type="body"/>
          </p:nvPr>
        </p:nvSpPr>
        <p:spPr>
          <a:xfrm>
            <a:off x="311700" y="1447800"/>
            <a:ext cx="38829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Plain-text protocol </a:t>
            </a:r>
            <a:r>
              <a:rPr b="1" lang="en-GB"/>
              <a:t>without authentication</a:t>
            </a:r>
            <a:r>
              <a:rPr lang="en-GB"/>
              <a:t> or encryp</a:t>
            </a:r>
            <a:r>
              <a:rPr lang="en-GB"/>
              <a:t>tion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Any Autonomous System can </a:t>
            </a:r>
            <a:r>
              <a:rPr b="1" lang="en-GB"/>
              <a:t>announce any prefix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Any router can </a:t>
            </a:r>
            <a:r>
              <a:rPr b="1" lang="en-GB"/>
              <a:t>spoof attributes</a:t>
            </a:r>
            <a:r>
              <a:rPr lang="en-GB"/>
              <a:t> like AS path</a:t>
            </a:r>
            <a:endParaRPr/>
          </a:p>
        </p:txBody>
      </p:sp>
      <p:pic>
        <p:nvPicPr>
          <p:cNvPr id="165" name="Google Shape;16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245" y="2936987"/>
            <a:ext cx="5959255" cy="1763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8800" y="942426"/>
            <a:ext cx="4436398" cy="14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Internet Routing Registries</a:t>
            </a:r>
            <a:endParaRPr/>
          </a:p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311700" y="1047750"/>
            <a:ext cx="66039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Route objects bind prefixes to Autonomous Systems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94" y="1591737"/>
            <a:ext cx="8402580" cy="2929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Internet Routing Registries</a:t>
            </a:r>
            <a:endParaRPr/>
          </a:p>
        </p:txBody>
      </p:sp>
      <p:sp>
        <p:nvSpPr>
          <p:cNvPr id="180" name="Google Shape;180;p18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Aut-num objects describe the routing policy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825" y="1447800"/>
            <a:ext cx="5303762" cy="309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4121075" y="2264400"/>
            <a:ext cx="9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5316A"/>
                </a:solidFill>
              </a:rPr>
              <a:t>(Provider)</a:t>
            </a:r>
            <a:endParaRPr sz="1200">
              <a:solidFill>
                <a:srgbClr val="25316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Internet Routing Registries</a:t>
            </a:r>
            <a:endParaRPr/>
          </a:p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19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Limits of the IRR system</a:t>
            </a:r>
            <a:endParaRPr/>
          </a:p>
        </p:txBody>
      </p:sp>
      <p:sp>
        <p:nvSpPr>
          <p:cNvPr id="191" name="Google Shape;191;p19"/>
          <p:cNvSpPr txBox="1"/>
          <p:nvPr>
            <p:ph idx="2" type="body"/>
          </p:nvPr>
        </p:nvSpPr>
        <p:spPr>
          <a:xfrm>
            <a:off x="311700" y="1447800"/>
            <a:ext cx="4241100" cy="11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Multiple </a:t>
            </a:r>
            <a:r>
              <a:rPr b="1" lang="en-GB"/>
              <a:t>inconsistent</a:t>
            </a:r>
            <a:r>
              <a:rPr lang="en-GB"/>
              <a:t> databases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Limited </a:t>
            </a:r>
            <a:r>
              <a:rPr b="1" lang="en-GB"/>
              <a:t>holdership checks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Stale data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96100" y="2627400"/>
            <a:ext cx="3849300" cy="14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39487"/>
                </a:solidFill>
              </a:rPr>
              <a:t>You download </a:t>
            </a:r>
            <a:r>
              <a:rPr b="1" lang="en-GB">
                <a:solidFill>
                  <a:srgbClr val="FC4C15"/>
                </a:solidFill>
              </a:rPr>
              <a:t>plaintext</a:t>
            </a:r>
            <a:r>
              <a:rPr b="1" lang="en-GB">
                <a:solidFill>
                  <a:srgbClr val="139487"/>
                </a:solidFill>
              </a:rPr>
              <a:t> data</a:t>
            </a:r>
            <a:r>
              <a:rPr lang="en-GB">
                <a:solidFill>
                  <a:srgbClr val="139487"/>
                </a:solidFill>
              </a:rPr>
              <a:t> from </a:t>
            </a:r>
            <a:r>
              <a:rPr b="1" lang="en-GB">
                <a:solidFill>
                  <a:srgbClr val="139487"/>
                </a:solidFill>
              </a:rPr>
              <a:t>random sources</a:t>
            </a:r>
            <a:r>
              <a:rPr lang="en-GB">
                <a:solidFill>
                  <a:srgbClr val="139487"/>
                </a:solidFill>
              </a:rPr>
              <a:t> on the Internet and put them into the configuration of your routers to </a:t>
            </a:r>
            <a:r>
              <a:rPr b="1" lang="en-GB">
                <a:solidFill>
                  <a:srgbClr val="139487"/>
                </a:solidFill>
              </a:rPr>
              <a:t>make the Internet </a:t>
            </a:r>
            <a:r>
              <a:rPr b="1" lang="en-GB">
                <a:solidFill>
                  <a:srgbClr val="FC4C15"/>
                </a:solidFill>
              </a:rPr>
              <a:t>more secure</a:t>
            </a:r>
            <a:r>
              <a:rPr lang="en-GB">
                <a:solidFill>
                  <a:srgbClr val="139487"/>
                </a:solidFill>
              </a:rPr>
              <a:t>.</a:t>
            </a:r>
            <a:r>
              <a:rPr lang="en-GB">
                <a:solidFill>
                  <a:srgbClr val="139487"/>
                </a:solidFill>
              </a:rPr>
              <a:t> What could possibly go wrong?</a:t>
            </a:r>
            <a:endParaRPr>
              <a:solidFill>
                <a:srgbClr val="1394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650" y="1142076"/>
            <a:ext cx="1568150" cy="33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311700" y="4197500"/>
            <a:ext cx="3982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hlink"/>
                </a:solidFill>
                <a:uFill>
                  <a:noFill/>
                </a:uFill>
                <a:latin typeface="Verdana"/>
                <a:ea typeface="Verdana"/>
                <a:cs typeface="Verdana"/>
                <a:sym typeface="Verdana"/>
                <a:hlinkClick r:id="rId4"/>
              </a:rPr>
              <a:t>https://irrexplorer.nlnog.net/</a:t>
            </a:r>
            <a:endParaRPr sz="18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0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0"/>
          <p:cNvSpPr txBox="1"/>
          <p:nvPr/>
        </p:nvSpPr>
        <p:spPr>
          <a:xfrm>
            <a:off x="759050" y="3159249"/>
            <a:ext cx="83133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Resource Public Key Infrastructure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 Public Key Infrastructure (RPKI)</a:t>
            </a:r>
            <a:endParaRPr/>
          </a:p>
        </p:txBody>
      </p:sp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1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What is RPKI?</a:t>
            </a:r>
            <a:endParaRPr/>
          </a:p>
        </p:txBody>
      </p:sp>
      <p:sp>
        <p:nvSpPr>
          <p:cNvPr id="208" name="Google Shape;208;p21"/>
          <p:cNvSpPr txBox="1"/>
          <p:nvPr>
            <p:ph idx="2" type="body"/>
          </p:nvPr>
        </p:nvSpPr>
        <p:spPr>
          <a:xfrm>
            <a:off x="311700" y="1447800"/>
            <a:ext cx="69636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 security framework for the Internet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Verifies the association between </a:t>
            </a:r>
            <a:r>
              <a:rPr b="1" lang="en-GB"/>
              <a:t>resource holders</a:t>
            </a:r>
            <a:r>
              <a:rPr lang="en-GB"/>
              <a:t> and their </a:t>
            </a:r>
            <a:r>
              <a:rPr b="1" lang="en-GB"/>
              <a:t>resources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Attaches digital </a:t>
            </a:r>
            <a:r>
              <a:rPr b="1" lang="en-GB"/>
              <a:t>certificate</a:t>
            </a:r>
            <a:r>
              <a:rPr lang="en-GB"/>
              <a:t> to IP addresses and AS numbers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Does not contain other information about the holders (no PII)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Growing list of use cases: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BGP Origin Validation</a:t>
            </a:r>
            <a:r>
              <a:rPr lang="en-GB"/>
              <a:t> (BGP OV)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Autonomous System Provider Authorisation</a:t>
            </a:r>
            <a:r>
              <a:rPr lang="en-GB"/>
              <a:t> (ASPA)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BGPsec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RPKI</a:t>
            </a:r>
            <a:endParaRPr/>
          </a:p>
        </p:txBody>
      </p:sp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22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RPKI in a nutshell</a:t>
            </a:r>
            <a:endParaRPr/>
          </a:p>
        </p:txBody>
      </p:sp>
      <p:sp>
        <p:nvSpPr>
          <p:cNvPr id="216" name="Google Shape;216;p22"/>
          <p:cNvSpPr txBox="1"/>
          <p:nvPr>
            <p:ph idx="2" type="body"/>
          </p:nvPr>
        </p:nvSpPr>
        <p:spPr>
          <a:xfrm>
            <a:off x="311700" y="1447800"/>
            <a:ext cx="50502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Resource holders get certificate from their RIRs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It contains the list of resources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Holders can create digitally signed objects: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ROA</a:t>
            </a:r>
            <a:r>
              <a:rPr lang="en-GB"/>
              <a:t> for authorizing an Autonomous System to </a:t>
            </a:r>
            <a:r>
              <a:rPr b="1" lang="en-GB"/>
              <a:t>originate a prefix</a:t>
            </a:r>
            <a:endParaRPr b="1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ASPA </a:t>
            </a:r>
            <a:r>
              <a:rPr lang="en-GB"/>
              <a:t>for authorising Provider Autonomous Systems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BGPsec</a:t>
            </a:r>
            <a:r>
              <a:rPr lang="en-GB"/>
              <a:t> router certificates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Network operators </a:t>
            </a:r>
            <a:r>
              <a:rPr b="1" lang="en-GB"/>
              <a:t>use validated data</a:t>
            </a:r>
            <a:r>
              <a:rPr lang="en-GB"/>
              <a:t> for </a:t>
            </a:r>
            <a:r>
              <a:rPr b="1" lang="en-GB"/>
              <a:t>filtering BGP announcements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075" y="2877425"/>
            <a:ext cx="3650499" cy="15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 Public Key Infrastructure</a:t>
            </a:r>
            <a:endParaRPr/>
          </a:p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23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RPKI is not just Origin Validation</a:t>
            </a:r>
            <a:endParaRPr/>
          </a:p>
        </p:txBody>
      </p:sp>
      <p:sp>
        <p:nvSpPr>
          <p:cNvPr id="225" name="Google Shape;225;p23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Route Origin Validation is the </a:t>
            </a:r>
            <a:r>
              <a:rPr b="1" lang="en-GB"/>
              <a:t>first and most popular</a:t>
            </a:r>
            <a:r>
              <a:rPr lang="en-GB"/>
              <a:t> service of RPKI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It </a:t>
            </a:r>
            <a:r>
              <a:rPr b="1" lang="en-GB"/>
              <a:t>prevents misorigination </a:t>
            </a:r>
            <a:r>
              <a:rPr lang="en-GB"/>
              <a:t>or </a:t>
            </a:r>
            <a:r>
              <a:rPr b="1" lang="en-GB"/>
              <a:t>more specific</a:t>
            </a:r>
            <a:r>
              <a:rPr lang="en-GB"/>
              <a:t> hijacks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It does not protect against </a:t>
            </a:r>
            <a:r>
              <a:rPr b="1" lang="en-GB"/>
              <a:t>AS path spoofing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It does not prevent route leaks that </a:t>
            </a:r>
            <a:r>
              <a:rPr b="1" lang="en-GB"/>
              <a:t>preserve AS path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24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4"/>
          <p:cNvSpPr txBox="1"/>
          <p:nvPr/>
        </p:nvSpPr>
        <p:spPr>
          <a:xfrm>
            <a:off x="759050" y="3159250"/>
            <a:ext cx="66681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Autonomous System Provider Authorisation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Autonomous System Provider Authorisation (</a:t>
            </a:r>
            <a:r>
              <a:rPr lang="en-GB"/>
              <a:t>ASPA</a:t>
            </a:r>
            <a:r>
              <a:rPr lang="en-GB"/>
              <a:t>)</a:t>
            </a:r>
            <a:endParaRPr/>
          </a:p>
        </p:txBody>
      </p:sp>
      <p:sp>
        <p:nvSpPr>
          <p:cNvPr id="237" name="Google Shape;237;p25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8" name="Google Shape;238;p25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ASPA Object</a:t>
            </a:r>
            <a:endParaRPr/>
          </a:p>
        </p:txBody>
      </p:sp>
      <p:sp>
        <p:nvSpPr>
          <p:cNvPr id="239" name="Google Shape;239;p25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Object issued by a </a:t>
            </a:r>
            <a:r>
              <a:rPr b="1" lang="en-GB"/>
              <a:t>holder of a AS number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Contains a set of </a:t>
            </a:r>
            <a:r>
              <a:rPr b="1" lang="en-GB"/>
              <a:t>Provider AS numbers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Must be </a:t>
            </a:r>
            <a:r>
              <a:rPr b="1" lang="en-GB"/>
              <a:t>signed by a RPKI certificate</a:t>
            </a:r>
            <a:r>
              <a:rPr lang="en-GB"/>
              <a:t> proving holdership of the client AS number</a:t>
            </a:r>
            <a:endParaRPr/>
          </a:p>
        </p:txBody>
      </p:sp>
      <p:pic>
        <p:nvPicPr>
          <p:cNvPr id="240" name="Google Shape;240;p25" title="Screenshot 2025-10-10 at 10.19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84275"/>
            <a:ext cx="4616699" cy="175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title="Screenshot 2025-10-10 at 10.20.12.png"/>
          <p:cNvPicPr preferRelativeResize="0"/>
          <p:nvPr/>
        </p:nvPicPr>
        <p:blipFill rotWithShape="1">
          <a:blip r:embed="rId4">
            <a:alphaModFix/>
          </a:blip>
          <a:srcRect b="1884" l="0" r="0" t="0"/>
          <a:stretch/>
        </p:blipFill>
        <p:spPr>
          <a:xfrm>
            <a:off x="3315000" y="2925400"/>
            <a:ext cx="4841524" cy="17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ASPA</a:t>
            </a:r>
            <a:endParaRPr/>
          </a:p>
        </p:txBody>
      </p:sp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8" name="Google Shape;248;p26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Upstream path validation</a:t>
            </a:r>
            <a:endParaRPr/>
          </a:p>
        </p:txBody>
      </p:sp>
      <p:sp>
        <p:nvSpPr>
          <p:cNvPr id="249" name="Google Shape;249;p26"/>
          <p:cNvSpPr txBox="1"/>
          <p:nvPr>
            <p:ph idx="2" type="body"/>
          </p:nvPr>
        </p:nvSpPr>
        <p:spPr>
          <a:xfrm>
            <a:off x="311700" y="1447800"/>
            <a:ext cx="3856200" cy="13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For BGP sessions with </a:t>
            </a:r>
            <a:r>
              <a:rPr b="1" lang="en-GB"/>
              <a:t>customers</a:t>
            </a:r>
            <a:r>
              <a:rPr lang="en-GB"/>
              <a:t> and </a:t>
            </a:r>
            <a:r>
              <a:rPr b="1" lang="en-GB"/>
              <a:t>peers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Simpler and stricter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Only </a:t>
            </a:r>
            <a:r>
              <a:rPr b="1" lang="en-GB"/>
              <a:t>up-ramp</a:t>
            </a:r>
            <a:r>
              <a:rPr lang="en-GB"/>
              <a:t> is allowed</a:t>
            </a:r>
            <a:endParaRPr/>
          </a:p>
        </p:txBody>
      </p:sp>
      <p:sp>
        <p:nvSpPr>
          <p:cNvPr id="250" name="Google Shape;250;p26"/>
          <p:cNvSpPr txBox="1"/>
          <p:nvPr>
            <p:ph idx="2" type="body"/>
          </p:nvPr>
        </p:nvSpPr>
        <p:spPr>
          <a:xfrm>
            <a:off x="4744100" y="1447800"/>
            <a:ext cx="3816000" cy="13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For BGP sessions with </a:t>
            </a:r>
            <a:r>
              <a:rPr b="1" lang="en-GB"/>
              <a:t>transit providers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Allows </a:t>
            </a:r>
            <a:r>
              <a:rPr b="1" lang="en-GB"/>
              <a:t>one up-ramp</a:t>
            </a:r>
            <a:r>
              <a:rPr lang="en-GB"/>
              <a:t> (to the transit provider) and </a:t>
            </a:r>
            <a:r>
              <a:rPr b="1" lang="en-GB"/>
              <a:t>one down-ramp</a:t>
            </a:r>
            <a:r>
              <a:rPr lang="en-GB"/>
              <a:t> (to your network) </a:t>
            </a:r>
            <a:endParaRPr/>
          </a:p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48241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Downstream path validation</a:t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915525" y="4000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1927600" y="4000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915588" y="29377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</a:t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1927663" y="2937750"/>
            <a:ext cx="712200" cy="712200"/>
          </a:xfrm>
          <a:prstGeom prst="ellipse">
            <a:avLst/>
          </a:prstGeom>
          <a:solidFill>
            <a:srgbClr val="FC4C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YOU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6" name="Google Shape;256;p26"/>
          <p:cNvCxnSpPr>
            <a:stCxn id="252" idx="0"/>
            <a:endCxn id="254" idx="4"/>
          </p:cNvCxnSpPr>
          <p:nvPr/>
        </p:nvCxnSpPr>
        <p:spPr>
          <a:xfrm rot="10800000">
            <a:off x="1271625" y="3649850"/>
            <a:ext cx="0" cy="35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6"/>
          <p:cNvCxnSpPr>
            <a:stCxn id="253" idx="0"/>
            <a:endCxn id="255" idx="4"/>
          </p:cNvCxnSpPr>
          <p:nvPr/>
        </p:nvCxnSpPr>
        <p:spPr>
          <a:xfrm rot="10800000">
            <a:off x="2283700" y="3649850"/>
            <a:ext cx="0" cy="35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6"/>
          <p:cNvCxnSpPr>
            <a:stCxn id="254" idx="6"/>
            <a:endCxn id="255" idx="2"/>
          </p:cNvCxnSpPr>
          <p:nvPr/>
        </p:nvCxnSpPr>
        <p:spPr>
          <a:xfrm>
            <a:off x="1627788" y="3293850"/>
            <a:ext cx="30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6"/>
          <p:cNvSpPr/>
          <p:nvPr/>
        </p:nvSpPr>
        <p:spPr>
          <a:xfrm>
            <a:off x="5685200" y="4000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7437163" y="4000550"/>
            <a:ext cx="712200" cy="712200"/>
          </a:xfrm>
          <a:prstGeom prst="ellipse">
            <a:avLst/>
          </a:prstGeom>
          <a:solidFill>
            <a:srgbClr val="FC4C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YOU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5685200" y="3092975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ISP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7437175" y="3092975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ISP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6561188" y="2645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</p:txBody>
      </p:sp>
      <p:cxnSp>
        <p:nvCxnSpPr>
          <p:cNvPr id="264" name="Google Shape;264;p26"/>
          <p:cNvCxnSpPr>
            <a:stCxn id="259" idx="0"/>
            <a:endCxn id="261" idx="4"/>
          </p:cNvCxnSpPr>
          <p:nvPr/>
        </p:nvCxnSpPr>
        <p:spPr>
          <a:xfrm rot="10800000">
            <a:off x="6041300" y="3805250"/>
            <a:ext cx="0" cy="1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6"/>
          <p:cNvCxnSpPr>
            <a:stCxn id="261" idx="7"/>
            <a:endCxn id="263" idx="2"/>
          </p:cNvCxnSpPr>
          <p:nvPr/>
        </p:nvCxnSpPr>
        <p:spPr>
          <a:xfrm flipH="1" rot="10800000">
            <a:off x="6293101" y="3001674"/>
            <a:ext cx="268200" cy="1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6"/>
          <p:cNvCxnSpPr>
            <a:stCxn id="263" idx="6"/>
            <a:endCxn id="262" idx="1"/>
          </p:cNvCxnSpPr>
          <p:nvPr/>
        </p:nvCxnSpPr>
        <p:spPr>
          <a:xfrm>
            <a:off x="7273388" y="3001650"/>
            <a:ext cx="268200" cy="1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6"/>
          <p:cNvCxnSpPr>
            <a:stCxn id="262" idx="4"/>
            <a:endCxn id="260" idx="0"/>
          </p:cNvCxnSpPr>
          <p:nvPr/>
        </p:nvCxnSpPr>
        <p:spPr>
          <a:xfrm>
            <a:off x="7793275" y="3805175"/>
            <a:ext cx="0" cy="1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6"/>
          <p:cNvCxnSpPr>
            <a:stCxn id="261" idx="6"/>
            <a:endCxn id="262" idx="2"/>
          </p:cNvCxnSpPr>
          <p:nvPr/>
        </p:nvCxnSpPr>
        <p:spPr>
          <a:xfrm>
            <a:off x="6397400" y="3449075"/>
            <a:ext cx="103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27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7"/>
          <p:cNvSpPr txBox="1"/>
          <p:nvPr/>
        </p:nvSpPr>
        <p:spPr>
          <a:xfrm>
            <a:off x="759050" y="3159250"/>
            <a:ext cx="66681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Upstream validation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28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Plausible, well… </a:t>
            </a:r>
            <a:r>
              <a:rPr i="1" lang="en-GB"/>
              <a:t>Not Implausible</a:t>
            </a:r>
            <a:r>
              <a:rPr lang="en-GB"/>
              <a:t> Paths</a:t>
            </a:r>
            <a:endParaRPr/>
          </a:p>
        </p:txBody>
      </p:sp>
      <p:sp>
        <p:nvSpPr>
          <p:cNvPr id="281" name="Google Shape;281;p28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Upstream Validation in Detail</a:t>
            </a:r>
            <a:endParaRPr/>
          </a:p>
        </p:txBody>
      </p:sp>
      <p:sp>
        <p:nvSpPr>
          <p:cNvPr id="282" name="Google Shape;282;p28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Each </a:t>
            </a:r>
            <a:r>
              <a:rPr b="1" lang="en-GB"/>
              <a:t>AS-to-AS hop</a:t>
            </a:r>
            <a:r>
              <a:rPr lang="en-GB"/>
              <a:t> is </a:t>
            </a:r>
            <a:r>
              <a:rPr i="1" lang="en-GB"/>
              <a:t>verified</a:t>
            </a:r>
            <a:r>
              <a:rPr lang="en-GB"/>
              <a:t> 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Provider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Not Provider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No Attestation</a:t>
            </a:r>
            <a:br>
              <a:rPr lang="en-GB"/>
            </a:br>
            <a:r>
              <a:rPr lang="en-GB"/>
              <a:t>(no ASPA exists for customer AS)</a:t>
            </a:r>
            <a:endParaRPr b="1" u="sn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ASPA Verification - Routes from Customers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9" name="Google Shape;289;p29"/>
          <p:cNvSpPr txBox="1"/>
          <p:nvPr>
            <p:ph idx="1" type="subTitle"/>
          </p:nvPr>
        </p:nvSpPr>
        <p:spPr>
          <a:xfrm>
            <a:off x="311700" y="916539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Spoofed origin AS</a:t>
            </a:r>
            <a:endParaRPr/>
          </a:p>
        </p:txBody>
      </p:sp>
      <p:sp>
        <p:nvSpPr>
          <p:cNvPr id="290" name="Google Shape;290;p29"/>
          <p:cNvSpPr txBox="1"/>
          <p:nvPr>
            <p:ph idx="2" type="body"/>
          </p:nvPr>
        </p:nvSpPr>
        <p:spPr>
          <a:xfrm>
            <a:off x="311700" y="119735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Given: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AS4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AS4 =&gt; [ AS2 ]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sees 1 3 5 4 192.0.2.0/24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AS1 knows: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is a </a:t>
            </a:r>
            <a:r>
              <a:rPr b="1" lang="en-GB" sz="1300"/>
              <a:t>customer</a:t>
            </a:r>
            <a:r>
              <a:rPr lang="en-GB" sz="1300"/>
              <a:t> session - </a:t>
            </a:r>
            <a:r>
              <a:rPr b="1" lang="en-GB" sz="1300"/>
              <a:t>Upstream validation</a:t>
            </a:r>
            <a:r>
              <a:rPr lang="en-GB" sz="1300"/>
              <a:t> is used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AS5 is “</a:t>
            </a:r>
            <a:r>
              <a:rPr b="1" lang="en-GB" sz="1300"/>
              <a:t>Not Provider</a:t>
            </a:r>
            <a:r>
              <a:rPr lang="en-GB" sz="1300"/>
              <a:t>” for AS4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Therefore this is </a:t>
            </a:r>
            <a:r>
              <a:rPr b="1" lang="en-GB" sz="1300"/>
              <a:t>invalid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sp>
        <p:nvSpPr>
          <p:cNvPr id="291" name="Google Shape;291;p29"/>
          <p:cNvSpPr/>
          <p:nvPr/>
        </p:nvSpPr>
        <p:spPr>
          <a:xfrm>
            <a:off x="5568713" y="147830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6531897" y="23202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6531897" y="33146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cxnSp>
        <p:nvCxnSpPr>
          <p:cNvPr id="294" name="Google Shape;294;p29"/>
          <p:cNvCxnSpPr>
            <a:stCxn id="291" idx="5"/>
            <a:endCxn id="292" idx="1"/>
          </p:cNvCxnSpPr>
          <p:nvPr/>
        </p:nvCxnSpPr>
        <p:spPr>
          <a:xfrm>
            <a:off x="6176614" y="2086201"/>
            <a:ext cx="4596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5" name="Google Shape;295;p29"/>
          <p:cNvCxnSpPr>
            <a:stCxn id="292" idx="4"/>
            <a:endCxn id="293" idx="0"/>
          </p:cNvCxnSpPr>
          <p:nvPr/>
        </p:nvCxnSpPr>
        <p:spPr>
          <a:xfrm>
            <a:off x="6887997" y="3032450"/>
            <a:ext cx="0" cy="28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6" name="Google Shape;296;p29"/>
          <p:cNvSpPr/>
          <p:nvPr/>
        </p:nvSpPr>
        <p:spPr>
          <a:xfrm>
            <a:off x="6572297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29"/>
          <p:cNvSpPr/>
          <p:nvPr/>
        </p:nvSpPr>
        <p:spPr>
          <a:xfrm flipH="1">
            <a:off x="7124532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7730575" y="33146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“AS4”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7408375" y="418940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0" name="Google Shape;300;p29"/>
          <p:cNvCxnSpPr>
            <a:stCxn id="298" idx="2"/>
            <a:endCxn id="293" idx="6"/>
          </p:cNvCxnSpPr>
          <p:nvPr/>
        </p:nvCxnSpPr>
        <p:spPr>
          <a:xfrm rot="10800000">
            <a:off x="7243975" y="3670700"/>
            <a:ext cx="486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301" name="Google Shape;301;p29"/>
          <p:cNvCxnSpPr>
            <a:stCxn id="298" idx="4"/>
            <a:endCxn id="299" idx="0"/>
          </p:cNvCxnSpPr>
          <p:nvPr/>
        </p:nvCxnSpPr>
        <p:spPr>
          <a:xfrm>
            <a:off x="8086675" y="402680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9"/>
          <p:cNvSpPr/>
          <p:nvPr/>
        </p:nvSpPr>
        <p:spPr>
          <a:xfrm>
            <a:off x="7767518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29"/>
          <p:cNvSpPr/>
          <p:nvPr/>
        </p:nvSpPr>
        <p:spPr>
          <a:xfrm flipH="1">
            <a:off x="8319753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04" name="Google Shape;304;p29"/>
          <p:cNvCxnSpPr/>
          <p:nvPr/>
        </p:nvCxnSpPr>
        <p:spPr>
          <a:xfrm>
            <a:off x="7404200" y="3488650"/>
            <a:ext cx="222300" cy="36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9"/>
          <p:cNvCxnSpPr/>
          <p:nvPr/>
        </p:nvCxnSpPr>
        <p:spPr>
          <a:xfrm flipH="1">
            <a:off x="7404200" y="3488650"/>
            <a:ext cx="222300" cy="36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9"/>
          <p:cNvSpPr/>
          <p:nvPr/>
        </p:nvSpPr>
        <p:spPr>
          <a:xfrm>
            <a:off x="4779297" y="23202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4793325" y="33146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4464150" y="418940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9" name="Google Shape;309;p29"/>
          <p:cNvCxnSpPr>
            <a:stCxn id="308" idx="0"/>
            <a:endCxn id="307" idx="4"/>
          </p:cNvCxnSpPr>
          <p:nvPr/>
        </p:nvCxnSpPr>
        <p:spPr>
          <a:xfrm flipH="1" rot="10800000">
            <a:off x="5142450" y="4026800"/>
            <a:ext cx="690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9"/>
          <p:cNvCxnSpPr>
            <a:stCxn id="291" idx="3"/>
            <a:endCxn id="306" idx="7"/>
          </p:cNvCxnSpPr>
          <p:nvPr/>
        </p:nvCxnSpPr>
        <p:spPr>
          <a:xfrm flipH="1">
            <a:off x="5387112" y="2086201"/>
            <a:ext cx="2859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1" name="Google Shape;311;p29"/>
          <p:cNvCxnSpPr>
            <a:stCxn id="306" idx="4"/>
            <a:endCxn id="307" idx="0"/>
          </p:cNvCxnSpPr>
          <p:nvPr/>
        </p:nvCxnSpPr>
        <p:spPr>
          <a:xfrm>
            <a:off x="5135397" y="3032450"/>
            <a:ext cx="14100" cy="282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ASPA Verification - Routes from Customers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296713" y="127925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6259897" y="21212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6259897" y="3115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cxnSp>
        <p:nvCxnSpPr>
          <p:cNvPr id="321" name="Google Shape;321;p30"/>
          <p:cNvCxnSpPr>
            <a:stCxn id="318" idx="5"/>
            <a:endCxn id="319" idx="1"/>
          </p:cNvCxnSpPr>
          <p:nvPr/>
        </p:nvCxnSpPr>
        <p:spPr>
          <a:xfrm>
            <a:off x="5904614" y="1887151"/>
            <a:ext cx="4596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2" name="Google Shape;322;p30"/>
          <p:cNvCxnSpPr>
            <a:stCxn id="319" idx="4"/>
            <a:endCxn id="320" idx="0"/>
          </p:cNvCxnSpPr>
          <p:nvPr/>
        </p:nvCxnSpPr>
        <p:spPr>
          <a:xfrm>
            <a:off x="6615997" y="2833400"/>
            <a:ext cx="0" cy="28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23" name="Google Shape;323;p30"/>
          <p:cNvSpPr/>
          <p:nvPr/>
        </p:nvSpPr>
        <p:spPr>
          <a:xfrm>
            <a:off x="4507297" y="21212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4521325" y="3115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192150" y="39903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6" name="Google Shape;326;p30"/>
          <p:cNvCxnSpPr>
            <a:stCxn id="325" idx="0"/>
            <a:endCxn id="324" idx="4"/>
          </p:cNvCxnSpPr>
          <p:nvPr/>
        </p:nvCxnSpPr>
        <p:spPr>
          <a:xfrm flipH="1" rot="10800000">
            <a:off x="4870450" y="3827750"/>
            <a:ext cx="690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0"/>
          <p:cNvCxnSpPr>
            <a:stCxn id="318" idx="3"/>
            <a:endCxn id="323" idx="7"/>
          </p:cNvCxnSpPr>
          <p:nvPr/>
        </p:nvCxnSpPr>
        <p:spPr>
          <a:xfrm flipH="1">
            <a:off x="5115112" y="1887151"/>
            <a:ext cx="2859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8" name="Google Shape;328;p30"/>
          <p:cNvCxnSpPr>
            <a:stCxn id="323" idx="4"/>
            <a:endCxn id="324" idx="0"/>
          </p:cNvCxnSpPr>
          <p:nvPr/>
        </p:nvCxnSpPr>
        <p:spPr>
          <a:xfrm>
            <a:off x="4863397" y="2833400"/>
            <a:ext cx="14100" cy="282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9" name="Google Shape;329;p30"/>
          <p:cNvCxnSpPr>
            <a:stCxn id="324" idx="6"/>
            <a:endCxn id="320" idx="2"/>
          </p:cNvCxnSpPr>
          <p:nvPr/>
        </p:nvCxnSpPr>
        <p:spPr>
          <a:xfrm>
            <a:off x="5233525" y="3471650"/>
            <a:ext cx="102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0" name="Google Shape;330;p30"/>
          <p:cNvSpPr txBox="1"/>
          <p:nvPr/>
        </p:nvSpPr>
        <p:spPr>
          <a:xfrm>
            <a:off x="5560400" y="3158900"/>
            <a:ext cx="459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peer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1" name="Google Shape;331;p30"/>
          <p:cNvSpPr txBox="1"/>
          <p:nvPr>
            <p:ph idx="2" type="body"/>
          </p:nvPr>
        </p:nvSpPr>
        <p:spPr>
          <a:xfrm>
            <a:off x="311700" y="122825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Given: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AS4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AS4 =&gt; [ AS2 ]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sees 1 3 5 4 192.0.2.0/24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AS1 knows: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is a </a:t>
            </a:r>
            <a:r>
              <a:rPr b="1" lang="en-GB" sz="1300"/>
              <a:t>customer</a:t>
            </a:r>
            <a:r>
              <a:rPr lang="en-GB" sz="1300"/>
              <a:t> session - </a:t>
            </a:r>
            <a:r>
              <a:rPr b="1" lang="en-GB" sz="1300"/>
              <a:t>Upstream validation</a:t>
            </a:r>
            <a:r>
              <a:rPr lang="en-GB" sz="1300"/>
              <a:t> is used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AS5 is “</a:t>
            </a:r>
            <a:r>
              <a:rPr b="1" lang="en-GB" sz="1300"/>
              <a:t>Not Provider</a:t>
            </a:r>
            <a:r>
              <a:rPr lang="en-GB" sz="1300"/>
              <a:t>” for AS4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Therefore this is </a:t>
            </a:r>
            <a:r>
              <a:rPr b="1" lang="en-GB" sz="1300"/>
              <a:t>invalid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300"/>
              <a:t>Note: it does not matter if it’s an accidental leak, or malicious spoofing.</a:t>
            </a:r>
            <a:endParaRPr i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sp>
        <p:nvSpPr>
          <p:cNvPr id="332" name="Google Shape;332;p30"/>
          <p:cNvSpPr txBox="1"/>
          <p:nvPr>
            <p:ph idx="1" type="subTitle"/>
          </p:nvPr>
        </p:nvSpPr>
        <p:spPr>
          <a:xfrm>
            <a:off x="311700" y="916539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Or.. perhaps just a leak?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31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1"/>
          <p:cNvSpPr txBox="1"/>
          <p:nvPr/>
        </p:nvSpPr>
        <p:spPr>
          <a:xfrm>
            <a:off x="759050" y="3159250"/>
            <a:ext cx="66681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Downstream validation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Valley Free Routing - </a:t>
            </a:r>
            <a:r>
              <a:rPr lang="en-GB"/>
              <a:t>Routes from Providers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353800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353800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1804925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Stub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2566913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</a:t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1804929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3301497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3301497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4456026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cxnSp>
        <p:nvCxnSpPr>
          <p:cNvPr id="353" name="Google Shape;353;p32"/>
          <p:cNvCxnSpPr>
            <a:stCxn id="345" idx="0"/>
            <a:endCxn id="346" idx="4"/>
          </p:cNvCxnSpPr>
          <p:nvPr/>
        </p:nvCxnSpPr>
        <p:spPr>
          <a:xfrm rot="10800000">
            <a:off x="709900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2"/>
          <p:cNvCxnSpPr>
            <a:stCxn id="346" idx="6"/>
            <a:endCxn id="349" idx="2"/>
          </p:cNvCxnSpPr>
          <p:nvPr/>
        </p:nvCxnSpPr>
        <p:spPr>
          <a:xfrm>
            <a:off x="1066000" y="2917800"/>
            <a:ext cx="73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5" name="Google Shape;355;p32"/>
          <p:cNvCxnSpPr>
            <a:stCxn id="347" idx="0"/>
            <a:endCxn id="349" idx="4"/>
          </p:cNvCxnSpPr>
          <p:nvPr/>
        </p:nvCxnSpPr>
        <p:spPr>
          <a:xfrm rot="10800000">
            <a:off x="2161025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2"/>
          <p:cNvCxnSpPr>
            <a:stCxn id="346" idx="7"/>
            <a:endCxn id="348" idx="2"/>
          </p:cNvCxnSpPr>
          <p:nvPr/>
        </p:nvCxnSpPr>
        <p:spPr>
          <a:xfrm flipH="1" rot="10800000">
            <a:off x="961701" y="1847299"/>
            <a:ext cx="1605300" cy="8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32"/>
          <p:cNvCxnSpPr>
            <a:stCxn id="348" idx="5"/>
            <a:endCxn id="350" idx="1"/>
          </p:cNvCxnSpPr>
          <p:nvPr/>
        </p:nvCxnSpPr>
        <p:spPr>
          <a:xfrm>
            <a:off x="3174814" y="2099051"/>
            <a:ext cx="2310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58" name="Google Shape;358;p32"/>
          <p:cNvCxnSpPr>
            <a:stCxn id="350" idx="4"/>
            <a:endCxn id="351" idx="0"/>
          </p:cNvCxnSpPr>
          <p:nvPr/>
        </p:nvCxnSpPr>
        <p:spPr>
          <a:xfrm>
            <a:off x="3657597" y="3197700"/>
            <a:ext cx="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59" name="Google Shape;359;p32"/>
          <p:cNvCxnSpPr>
            <a:stCxn id="350" idx="5"/>
            <a:endCxn id="352" idx="1"/>
          </p:cNvCxnSpPr>
          <p:nvPr/>
        </p:nvCxnSpPr>
        <p:spPr>
          <a:xfrm>
            <a:off x="3909398" y="3093401"/>
            <a:ext cx="6510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0" name="Google Shape;360;p32"/>
          <p:cNvCxnSpPr>
            <a:stCxn id="349" idx="7"/>
            <a:endCxn id="348" idx="3"/>
          </p:cNvCxnSpPr>
          <p:nvPr/>
        </p:nvCxnSpPr>
        <p:spPr>
          <a:xfrm flipH="1" rot="10800000">
            <a:off x="2412830" y="2098999"/>
            <a:ext cx="2583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32"/>
          <p:cNvSpPr/>
          <p:nvPr/>
        </p:nvSpPr>
        <p:spPr>
          <a:xfrm>
            <a:off x="4852913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</a:t>
            </a:r>
            <a:endParaRPr/>
          </a:p>
        </p:txBody>
      </p:sp>
      <p:sp>
        <p:nvSpPr>
          <p:cNvPr id="362" name="Google Shape;362;p32"/>
          <p:cNvSpPr/>
          <p:nvPr/>
        </p:nvSpPr>
        <p:spPr>
          <a:xfrm>
            <a:off x="5816097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cxnSp>
        <p:nvCxnSpPr>
          <p:cNvPr id="363" name="Google Shape;363;p32"/>
          <p:cNvCxnSpPr>
            <a:stCxn id="348" idx="6"/>
            <a:endCxn id="361" idx="2"/>
          </p:cNvCxnSpPr>
          <p:nvPr/>
        </p:nvCxnSpPr>
        <p:spPr>
          <a:xfrm>
            <a:off x="3279113" y="1847250"/>
            <a:ext cx="157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" name="Google Shape;364;p32"/>
          <p:cNvCxnSpPr>
            <a:stCxn id="361" idx="3"/>
            <a:endCxn id="350" idx="7"/>
          </p:cNvCxnSpPr>
          <p:nvPr/>
        </p:nvCxnSpPr>
        <p:spPr>
          <a:xfrm flipH="1">
            <a:off x="3909312" y="2099051"/>
            <a:ext cx="10479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5" name="Google Shape;365;p32"/>
          <p:cNvCxnSpPr>
            <a:stCxn id="361" idx="5"/>
            <a:endCxn id="362" idx="1"/>
          </p:cNvCxnSpPr>
          <p:nvPr/>
        </p:nvCxnSpPr>
        <p:spPr>
          <a:xfrm>
            <a:off x="5460814" y="2099051"/>
            <a:ext cx="4596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6" name="Google Shape;366;p32"/>
          <p:cNvSpPr/>
          <p:nvPr/>
        </p:nvSpPr>
        <p:spPr>
          <a:xfrm>
            <a:off x="5827626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cxnSp>
        <p:nvCxnSpPr>
          <p:cNvPr id="367" name="Google Shape;367;p32"/>
          <p:cNvCxnSpPr>
            <a:stCxn id="362" idx="4"/>
            <a:endCxn id="366" idx="0"/>
          </p:cNvCxnSpPr>
          <p:nvPr/>
        </p:nvCxnSpPr>
        <p:spPr>
          <a:xfrm>
            <a:off x="6172197" y="3197700"/>
            <a:ext cx="1140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8" name="Google Shape;368;p32"/>
          <p:cNvSpPr txBox="1"/>
          <p:nvPr>
            <p:ph idx="1" type="subTitle"/>
          </p:nvPr>
        </p:nvSpPr>
        <p:spPr>
          <a:xfrm>
            <a:off x="311700" y="855375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Up, to the side and then down</a:t>
            </a:r>
            <a:endParaRPr/>
          </a:p>
        </p:txBody>
      </p:sp>
      <p:sp>
        <p:nvSpPr>
          <p:cNvPr id="369" name="Google Shape;369;p32"/>
          <p:cNvSpPr txBox="1"/>
          <p:nvPr>
            <p:ph idx="2" type="body"/>
          </p:nvPr>
        </p:nvSpPr>
        <p:spPr>
          <a:xfrm>
            <a:off x="6709800" y="1557150"/>
            <a:ext cx="2313900" cy="3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Data </a:t>
            </a:r>
            <a:r>
              <a:rPr lang="en-GB" sz="1800"/>
              <a:t>should </a:t>
            </a:r>
            <a:r>
              <a:rPr b="1" lang="en-GB" sz="1800"/>
              <a:t>never flow Up-Down-Up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/>
              <a:t>ASPA can </a:t>
            </a:r>
            <a:r>
              <a:rPr b="1" lang="en-GB" sz="1800"/>
              <a:t>detect valleys</a:t>
            </a:r>
            <a:r>
              <a:rPr lang="en-GB" sz="1800"/>
              <a:t> in the AS path using the “</a:t>
            </a:r>
            <a:r>
              <a:rPr b="1" lang="en-GB" sz="1800"/>
              <a:t>Downstream</a:t>
            </a:r>
            <a:r>
              <a:rPr lang="en-GB" sz="1800"/>
              <a:t>” validation algorithm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5" name="Google Shape;375;p33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ASPA F</a:t>
            </a:r>
            <a:r>
              <a:rPr lang="en-GB"/>
              <a:t>inds</a:t>
            </a:r>
            <a:r>
              <a:rPr lang="en-GB"/>
              <a:t> Valleys in AS Paths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 txBox="1"/>
          <p:nvPr>
            <p:ph idx="2" type="body"/>
          </p:nvPr>
        </p:nvSpPr>
        <p:spPr>
          <a:xfrm>
            <a:off x="311700" y="1212625"/>
            <a:ext cx="8563800" cy="368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Each </a:t>
            </a:r>
            <a:r>
              <a:rPr b="1" lang="en-GB"/>
              <a:t>AS-to-AS hop</a:t>
            </a:r>
            <a:r>
              <a:rPr lang="en-GB"/>
              <a:t> is </a:t>
            </a:r>
            <a:r>
              <a:rPr i="1" lang="en-GB"/>
              <a:t>verified</a:t>
            </a:r>
            <a:r>
              <a:rPr lang="en-GB"/>
              <a:t> 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Provider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GB"/>
              <a:t>Not Provider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No Attestation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The longest </a:t>
            </a:r>
            <a:r>
              <a:rPr b="1" lang="en-GB"/>
              <a:t>Up-ramp </a:t>
            </a:r>
            <a:r>
              <a:rPr lang="en-GB"/>
              <a:t>is found starting from the </a:t>
            </a:r>
            <a:r>
              <a:rPr b="1" lang="en-GB"/>
              <a:t>origin ASN</a:t>
            </a:r>
            <a:r>
              <a:rPr lang="en-GB"/>
              <a:t> until a “</a:t>
            </a:r>
            <a:r>
              <a:rPr b="1" lang="en-GB"/>
              <a:t>Not Provider</a:t>
            </a:r>
            <a:r>
              <a:rPr lang="en-GB"/>
              <a:t>” relation is encountered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The longest </a:t>
            </a:r>
            <a:r>
              <a:rPr b="1" lang="en-GB"/>
              <a:t>Down-ramp</a:t>
            </a:r>
            <a:r>
              <a:rPr lang="en-GB"/>
              <a:t> is found starting from </a:t>
            </a:r>
            <a:r>
              <a:rPr b="1" lang="en-GB"/>
              <a:t>local ASN</a:t>
            </a:r>
            <a:r>
              <a:rPr lang="en-GB"/>
              <a:t> until a “</a:t>
            </a:r>
            <a:r>
              <a:rPr b="1" lang="en-GB"/>
              <a:t>Not Provider</a:t>
            </a:r>
            <a:r>
              <a:rPr lang="en-GB"/>
              <a:t>” relation is encountered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The path is </a:t>
            </a:r>
            <a:r>
              <a:rPr b="1" lang="en-GB"/>
              <a:t>only plausible if</a:t>
            </a:r>
            <a:r>
              <a:rPr lang="en-GB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The </a:t>
            </a:r>
            <a:r>
              <a:rPr b="1" lang="en-GB"/>
              <a:t>Up</a:t>
            </a:r>
            <a:r>
              <a:rPr lang="en-GB"/>
              <a:t> and </a:t>
            </a:r>
            <a:r>
              <a:rPr b="1" lang="en-GB"/>
              <a:t>Down</a:t>
            </a:r>
            <a:r>
              <a:rPr lang="en-GB"/>
              <a:t> ramps </a:t>
            </a:r>
            <a:r>
              <a:rPr b="1" lang="en-GB"/>
              <a:t>meet at adjacent peers</a:t>
            </a:r>
            <a:r>
              <a:rPr lang="en-GB"/>
              <a:t>, 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The </a:t>
            </a:r>
            <a:r>
              <a:rPr b="1" lang="en-GB"/>
              <a:t>Up</a:t>
            </a:r>
            <a:r>
              <a:rPr lang="en-GB"/>
              <a:t> and </a:t>
            </a:r>
            <a:r>
              <a:rPr b="1" lang="en-GB"/>
              <a:t>Down </a:t>
            </a:r>
            <a:r>
              <a:rPr lang="en-GB"/>
              <a:t>ramps (partially) </a:t>
            </a:r>
            <a:r>
              <a:rPr b="1" lang="en-GB"/>
              <a:t>overlap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One or more hops between </a:t>
            </a:r>
            <a:r>
              <a:rPr b="1" lang="en-GB"/>
              <a:t>Up</a:t>
            </a:r>
            <a:r>
              <a:rPr lang="en-GB"/>
              <a:t> and </a:t>
            </a:r>
            <a:r>
              <a:rPr b="1" lang="en-GB"/>
              <a:t>Down</a:t>
            </a:r>
            <a:r>
              <a:rPr lang="en-GB"/>
              <a:t> ramps are </a:t>
            </a:r>
            <a:r>
              <a:rPr b="1" lang="en-GB"/>
              <a:t>valleys</a:t>
            </a:r>
            <a:r>
              <a:rPr lang="en-GB"/>
              <a:t>, such paths are </a:t>
            </a:r>
            <a:r>
              <a:rPr b="1" lang="en-GB"/>
              <a:t>invalid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AutoNum type="arabicPeriod"/>
            </a:pPr>
            <a:r>
              <a:rPr lang="en-GB"/>
              <a:t>If “</a:t>
            </a:r>
            <a:r>
              <a:rPr b="1" lang="en-GB"/>
              <a:t>No Attestation</a:t>
            </a:r>
            <a:r>
              <a:rPr lang="en-GB"/>
              <a:t>” is encountered, the path is </a:t>
            </a:r>
            <a:r>
              <a:rPr b="1" lang="en-GB"/>
              <a:t>unknown</a:t>
            </a:r>
            <a:r>
              <a:rPr lang="en-GB"/>
              <a:t>. Otherwise it is </a:t>
            </a:r>
            <a:r>
              <a:rPr b="1" lang="en-GB"/>
              <a:t>valid</a:t>
            </a:r>
            <a:r>
              <a:rPr lang="en-GB"/>
              <a:t>.</a:t>
            </a:r>
            <a:endParaRPr/>
          </a:p>
        </p:txBody>
      </p:sp>
      <p:sp>
        <p:nvSpPr>
          <p:cNvPr id="377" name="Google Shape;377;p33"/>
          <p:cNvSpPr txBox="1"/>
          <p:nvPr>
            <p:ph idx="1" type="subTitle"/>
          </p:nvPr>
        </p:nvSpPr>
        <p:spPr>
          <a:xfrm>
            <a:off x="311700" y="8759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Downstream</a:t>
            </a:r>
            <a:r>
              <a:rPr lang="en-GB"/>
              <a:t> Path validation algorithm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idx="12" type="sldNum"/>
          </p:nvPr>
        </p:nvSpPr>
        <p:spPr>
          <a:xfrm>
            <a:off x="8655922" y="474989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Valley Free Routing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1231638" y="34853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1231638" y="24909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2682763" y="348530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2682767" y="24909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4508459" y="2413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4508459" y="3484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cxnSp>
        <p:nvCxnSpPr>
          <p:cNvPr id="390" name="Google Shape;390;p34"/>
          <p:cNvCxnSpPr>
            <a:stCxn id="384" idx="0"/>
            <a:endCxn id="385" idx="4"/>
          </p:cNvCxnSpPr>
          <p:nvPr/>
        </p:nvCxnSpPr>
        <p:spPr>
          <a:xfrm rot="10800000">
            <a:off x="1587738" y="320300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4"/>
          <p:cNvCxnSpPr>
            <a:stCxn id="385" idx="6"/>
            <a:endCxn id="387" idx="2"/>
          </p:cNvCxnSpPr>
          <p:nvPr/>
        </p:nvCxnSpPr>
        <p:spPr>
          <a:xfrm>
            <a:off x="1943838" y="2847050"/>
            <a:ext cx="73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2" name="Google Shape;392;p34"/>
          <p:cNvCxnSpPr>
            <a:stCxn id="386" idx="0"/>
            <a:endCxn id="387" idx="4"/>
          </p:cNvCxnSpPr>
          <p:nvPr/>
        </p:nvCxnSpPr>
        <p:spPr>
          <a:xfrm rot="10800000">
            <a:off x="3038863" y="320300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4"/>
          <p:cNvCxnSpPr>
            <a:stCxn id="394" idx="3"/>
            <a:endCxn id="388" idx="7"/>
          </p:cNvCxnSpPr>
          <p:nvPr/>
        </p:nvCxnSpPr>
        <p:spPr>
          <a:xfrm flipH="1">
            <a:off x="5116275" y="2027051"/>
            <a:ext cx="10479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95" name="Google Shape;395;p34"/>
          <p:cNvCxnSpPr>
            <a:stCxn id="388" idx="4"/>
            <a:endCxn id="389" idx="0"/>
          </p:cNvCxnSpPr>
          <p:nvPr/>
        </p:nvCxnSpPr>
        <p:spPr>
          <a:xfrm>
            <a:off x="4864559" y="3125700"/>
            <a:ext cx="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94" name="Google Shape;394;p34"/>
          <p:cNvSpPr/>
          <p:nvPr/>
        </p:nvSpPr>
        <p:spPr>
          <a:xfrm>
            <a:off x="6059876" y="1419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</a:t>
            </a:r>
            <a:endParaRPr/>
          </a:p>
        </p:txBody>
      </p:sp>
      <p:sp>
        <p:nvSpPr>
          <p:cNvPr id="396" name="Google Shape;396;p34"/>
          <p:cNvSpPr/>
          <p:nvPr/>
        </p:nvSpPr>
        <p:spPr>
          <a:xfrm>
            <a:off x="7023059" y="2413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cxnSp>
        <p:nvCxnSpPr>
          <p:cNvPr id="397" name="Google Shape;397;p34"/>
          <p:cNvCxnSpPr>
            <a:stCxn id="394" idx="5"/>
            <a:endCxn id="396" idx="1"/>
          </p:cNvCxnSpPr>
          <p:nvPr/>
        </p:nvCxnSpPr>
        <p:spPr>
          <a:xfrm>
            <a:off x="6667776" y="2027051"/>
            <a:ext cx="4596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98" name="Google Shape;398;p34"/>
          <p:cNvSpPr/>
          <p:nvPr/>
        </p:nvSpPr>
        <p:spPr>
          <a:xfrm>
            <a:off x="7034589" y="348405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</a:t>
            </a:r>
            <a:endParaRPr/>
          </a:p>
        </p:txBody>
      </p:sp>
      <p:cxnSp>
        <p:nvCxnSpPr>
          <p:cNvPr id="399" name="Google Shape;399;p34"/>
          <p:cNvCxnSpPr>
            <a:stCxn id="396" idx="4"/>
            <a:endCxn id="398" idx="0"/>
          </p:cNvCxnSpPr>
          <p:nvPr/>
        </p:nvCxnSpPr>
        <p:spPr>
          <a:xfrm>
            <a:off x="7379159" y="3125700"/>
            <a:ext cx="1140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00" name="Google Shape;400;p34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Valley Free Examples</a:t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909438" y="436010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2" name="Google Shape;402;p34"/>
          <p:cNvCxnSpPr>
            <a:stCxn id="384" idx="4"/>
            <a:endCxn id="401" idx="0"/>
          </p:cNvCxnSpPr>
          <p:nvPr/>
        </p:nvCxnSpPr>
        <p:spPr>
          <a:xfrm>
            <a:off x="1587738" y="419750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34"/>
          <p:cNvSpPr/>
          <p:nvPr/>
        </p:nvSpPr>
        <p:spPr>
          <a:xfrm>
            <a:off x="4186263" y="43588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4" name="Google Shape;404;p34"/>
          <p:cNvCxnSpPr>
            <a:endCxn id="403" idx="0"/>
          </p:cNvCxnSpPr>
          <p:nvPr/>
        </p:nvCxnSpPr>
        <p:spPr>
          <a:xfrm>
            <a:off x="4864563" y="419625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4"/>
          <p:cNvCxnSpPr/>
          <p:nvPr/>
        </p:nvCxnSpPr>
        <p:spPr>
          <a:xfrm rot="10800000">
            <a:off x="1104188" y="3027400"/>
            <a:ext cx="16800" cy="769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34"/>
          <p:cNvSpPr txBox="1"/>
          <p:nvPr/>
        </p:nvSpPr>
        <p:spPr>
          <a:xfrm>
            <a:off x="572300" y="32155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7" name="Google Shape;407;p34"/>
          <p:cNvSpPr txBox="1"/>
          <p:nvPr/>
        </p:nvSpPr>
        <p:spPr>
          <a:xfrm>
            <a:off x="4388500" y="141915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4266406" y="1585250"/>
            <a:ext cx="1479050" cy="2202925"/>
          </a:xfrm>
          <a:custGeom>
            <a:rect b="b" l="l" r="r" t="t"/>
            <a:pathLst>
              <a:path extrusionOk="0" h="88117" w="59162">
                <a:moveTo>
                  <a:pt x="2170" y="88117"/>
                </a:moveTo>
                <a:cubicBezTo>
                  <a:pt x="2642" y="77810"/>
                  <a:pt x="-4500" y="40959"/>
                  <a:pt x="4999" y="26273"/>
                </a:cubicBezTo>
                <a:cubicBezTo>
                  <a:pt x="14498" y="11587"/>
                  <a:pt x="50136" y="4379"/>
                  <a:pt x="59163" y="0"/>
                </a:cubicBezTo>
              </a:path>
            </a:pathLst>
          </a:cu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9" name="Google Shape;409;p34"/>
          <p:cNvSpPr/>
          <p:nvPr/>
        </p:nvSpPr>
        <p:spPr>
          <a:xfrm>
            <a:off x="7099550" y="1625675"/>
            <a:ext cx="1087650" cy="2273650"/>
          </a:xfrm>
          <a:custGeom>
            <a:rect b="b" l="l" r="r" t="t"/>
            <a:pathLst>
              <a:path extrusionOk="0" h="90946" w="43506">
                <a:moveTo>
                  <a:pt x="0" y="0"/>
                </a:moveTo>
                <a:cubicBezTo>
                  <a:pt x="6535" y="5996"/>
                  <a:pt x="32067" y="20816"/>
                  <a:pt x="39208" y="35974"/>
                </a:cubicBezTo>
                <a:cubicBezTo>
                  <a:pt x="46349" y="51132"/>
                  <a:pt x="42240" y="81784"/>
                  <a:pt x="42846" y="90946"/>
                </a:cubicBezTo>
              </a:path>
            </a:pathLst>
          </a:cu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410" name="Google Shape;410;p34"/>
          <p:cNvCxnSpPr/>
          <p:nvPr/>
        </p:nvCxnSpPr>
        <p:spPr>
          <a:xfrm>
            <a:off x="3597425" y="2970900"/>
            <a:ext cx="30300" cy="929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1" name="Google Shape;411;p34"/>
          <p:cNvSpPr txBox="1"/>
          <p:nvPr/>
        </p:nvSpPr>
        <p:spPr>
          <a:xfrm>
            <a:off x="3263950" y="3899325"/>
            <a:ext cx="8589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8285100" y="2634900"/>
            <a:ext cx="8589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8" name="Google Shape;418;p35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Valley Free Routing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5"/>
          <p:cNvSpPr/>
          <p:nvPr/>
        </p:nvSpPr>
        <p:spPr>
          <a:xfrm>
            <a:off x="353800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353800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2566913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422" name="Google Shape;422;p35"/>
          <p:cNvSpPr/>
          <p:nvPr/>
        </p:nvSpPr>
        <p:spPr>
          <a:xfrm>
            <a:off x="1804929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423" name="Google Shape;423;p35"/>
          <p:cNvSpPr/>
          <p:nvPr/>
        </p:nvSpPr>
        <p:spPr>
          <a:xfrm>
            <a:off x="3301497" y="248550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cxnSp>
        <p:nvCxnSpPr>
          <p:cNvPr id="424" name="Google Shape;424;p35"/>
          <p:cNvCxnSpPr>
            <a:stCxn id="419" idx="0"/>
            <a:endCxn id="420" idx="4"/>
          </p:cNvCxnSpPr>
          <p:nvPr/>
        </p:nvCxnSpPr>
        <p:spPr>
          <a:xfrm rot="10800000">
            <a:off x="709900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35"/>
          <p:cNvCxnSpPr>
            <a:stCxn id="420" idx="6"/>
            <a:endCxn id="422" idx="2"/>
          </p:cNvCxnSpPr>
          <p:nvPr/>
        </p:nvCxnSpPr>
        <p:spPr>
          <a:xfrm>
            <a:off x="1066000" y="2917800"/>
            <a:ext cx="73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35"/>
          <p:cNvCxnSpPr>
            <a:stCxn id="421" idx="5"/>
            <a:endCxn id="423" idx="1"/>
          </p:cNvCxnSpPr>
          <p:nvPr/>
        </p:nvCxnSpPr>
        <p:spPr>
          <a:xfrm>
            <a:off x="3174814" y="2099051"/>
            <a:ext cx="2310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7" name="Google Shape;427;p35"/>
          <p:cNvCxnSpPr>
            <a:stCxn id="422" idx="7"/>
            <a:endCxn id="421" idx="3"/>
          </p:cNvCxnSpPr>
          <p:nvPr/>
        </p:nvCxnSpPr>
        <p:spPr>
          <a:xfrm flipH="1" rot="10800000">
            <a:off x="2412830" y="2098999"/>
            <a:ext cx="2583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35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Not Valley Free - Leak by adjacent peer</a:t>
            </a:r>
            <a:endParaRPr/>
          </a:p>
        </p:txBody>
      </p:sp>
      <p:cxnSp>
        <p:nvCxnSpPr>
          <p:cNvPr id="429" name="Google Shape;429;p35"/>
          <p:cNvCxnSpPr/>
          <p:nvPr/>
        </p:nvCxnSpPr>
        <p:spPr>
          <a:xfrm>
            <a:off x="1742700" y="3383875"/>
            <a:ext cx="91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5"/>
          <p:cNvSpPr/>
          <p:nvPr/>
        </p:nvSpPr>
        <p:spPr>
          <a:xfrm>
            <a:off x="31600" y="44308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31" name="Google Shape;431;p35"/>
          <p:cNvCxnSpPr>
            <a:endCxn id="430" idx="0"/>
          </p:cNvCxnSpPr>
          <p:nvPr/>
        </p:nvCxnSpPr>
        <p:spPr>
          <a:xfrm>
            <a:off x="709900" y="426825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5"/>
          <p:cNvSpPr txBox="1"/>
          <p:nvPr>
            <p:ph idx="2" type="body"/>
          </p:nvPr>
        </p:nvSpPr>
        <p:spPr>
          <a:xfrm>
            <a:off x="5504900" y="124210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Given: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AS5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=&gt; [ AS0 ] # provider free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AS2 =&gt; [ AS1 ]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AS4 sees 4 1 </a:t>
            </a:r>
            <a:r>
              <a:rPr b="1" lang="en-GB" sz="1300">
                <a:solidFill>
                  <a:srgbClr val="F2673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 2 5 192.0.2.0/24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is “Not Provider” for AS2</a:t>
            </a:r>
            <a:br>
              <a:rPr lang="en-GB" sz="1300"/>
            </a:br>
            <a:r>
              <a:rPr b="1" lang="en-GB" sz="1300"/>
              <a:t>Up:             2 5</a:t>
            </a:r>
            <a:br>
              <a:rPr lang="en-GB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is “Not Provider” for AS1</a:t>
            </a:r>
            <a:br>
              <a:rPr lang="en-GB" sz="1300"/>
            </a:br>
            <a:r>
              <a:rPr b="1" lang="en-GB" sz="1300"/>
              <a:t>Down: 4 1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AS3</a:t>
            </a:r>
            <a:r>
              <a:rPr lang="en-GB" sz="1300"/>
              <a:t> is a valley, therefore this is </a:t>
            </a:r>
            <a:r>
              <a:rPr b="1" lang="en-GB" sz="1300"/>
              <a:t>invalid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cxnSp>
        <p:nvCxnSpPr>
          <p:cNvPr id="433" name="Google Shape;433;p35"/>
          <p:cNvCxnSpPr/>
          <p:nvPr/>
        </p:nvCxnSpPr>
        <p:spPr>
          <a:xfrm rot="10800000">
            <a:off x="1226775" y="3138575"/>
            <a:ext cx="16800" cy="769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35"/>
          <p:cNvSpPr txBox="1"/>
          <p:nvPr/>
        </p:nvSpPr>
        <p:spPr>
          <a:xfrm>
            <a:off x="1226775" y="3367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35" name="Google Shape;435;p35"/>
          <p:cNvCxnSpPr/>
          <p:nvPr/>
        </p:nvCxnSpPr>
        <p:spPr>
          <a:xfrm rot="10800000">
            <a:off x="3349800" y="1869450"/>
            <a:ext cx="347100" cy="533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6" name="Google Shape;436;p35"/>
          <p:cNvSpPr txBox="1"/>
          <p:nvPr/>
        </p:nvSpPr>
        <p:spPr>
          <a:xfrm>
            <a:off x="3588975" y="1877701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1787981" y="3325564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valley</a:t>
            </a:r>
            <a:endParaRPr sz="18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3" name="Google Shape;443;p36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Valley Free Routing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>
            <a:off x="353800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AS6</a:t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>
            <a:off x="353800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446" name="Google Shape;446;p36"/>
          <p:cNvSpPr/>
          <p:nvPr/>
        </p:nvSpPr>
        <p:spPr>
          <a:xfrm>
            <a:off x="1377308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447" name="Google Shape;447;p36"/>
          <p:cNvSpPr/>
          <p:nvPr/>
        </p:nvSpPr>
        <p:spPr>
          <a:xfrm>
            <a:off x="2111891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cxnSp>
        <p:nvCxnSpPr>
          <p:cNvPr id="448" name="Google Shape;448;p36"/>
          <p:cNvCxnSpPr>
            <a:stCxn id="444" idx="0"/>
            <a:endCxn id="445" idx="4"/>
          </p:cNvCxnSpPr>
          <p:nvPr/>
        </p:nvCxnSpPr>
        <p:spPr>
          <a:xfrm rot="10800000">
            <a:off x="709900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36"/>
          <p:cNvCxnSpPr>
            <a:stCxn id="445" idx="7"/>
            <a:endCxn id="446" idx="3"/>
          </p:cNvCxnSpPr>
          <p:nvPr/>
        </p:nvCxnSpPr>
        <p:spPr>
          <a:xfrm flipH="1" rot="10800000">
            <a:off x="961701" y="2098999"/>
            <a:ext cx="5199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36"/>
          <p:cNvCxnSpPr>
            <a:stCxn id="446" idx="5"/>
            <a:endCxn id="447" idx="1"/>
          </p:cNvCxnSpPr>
          <p:nvPr/>
        </p:nvCxnSpPr>
        <p:spPr>
          <a:xfrm>
            <a:off x="1985208" y="2099051"/>
            <a:ext cx="2310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1" name="Google Shape;451;p36"/>
          <p:cNvSpPr/>
          <p:nvPr/>
        </p:nvSpPr>
        <p:spPr>
          <a:xfrm>
            <a:off x="3053708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452" name="Google Shape;452;p36"/>
          <p:cNvSpPr/>
          <p:nvPr/>
        </p:nvSpPr>
        <p:spPr>
          <a:xfrm>
            <a:off x="4016891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cxnSp>
        <p:nvCxnSpPr>
          <p:cNvPr id="453" name="Google Shape;453;p36"/>
          <p:cNvCxnSpPr>
            <a:stCxn id="451" idx="3"/>
            <a:endCxn id="447" idx="7"/>
          </p:cNvCxnSpPr>
          <p:nvPr/>
        </p:nvCxnSpPr>
        <p:spPr>
          <a:xfrm flipH="1">
            <a:off x="2719707" y="2099051"/>
            <a:ext cx="4383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54" name="Google Shape;454;p36"/>
          <p:cNvCxnSpPr>
            <a:stCxn id="451" idx="5"/>
            <a:endCxn id="452" idx="1"/>
          </p:cNvCxnSpPr>
          <p:nvPr/>
        </p:nvCxnSpPr>
        <p:spPr>
          <a:xfrm>
            <a:off x="3661608" y="2099051"/>
            <a:ext cx="4596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5" name="Google Shape;455;p36"/>
          <p:cNvSpPr/>
          <p:nvPr/>
        </p:nvSpPr>
        <p:spPr>
          <a:xfrm>
            <a:off x="4028421" y="355605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AS7</a:t>
            </a:r>
            <a:endParaRPr/>
          </a:p>
        </p:txBody>
      </p:sp>
      <p:cxnSp>
        <p:nvCxnSpPr>
          <p:cNvPr id="456" name="Google Shape;456;p36"/>
          <p:cNvCxnSpPr>
            <a:stCxn id="452" idx="4"/>
            <a:endCxn id="455" idx="0"/>
          </p:cNvCxnSpPr>
          <p:nvPr/>
        </p:nvCxnSpPr>
        <p:spPr>
          <a:xfrm>
            <a:off x="4372991" y="3197700"/>
            <a:ext cx="1140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7" name="Google Shape;457;p36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Not Valley Free - Leak to second Transit</a:t>
            </a:r>
            <a:endParaRPr/>
          </a:p>
        </p:txBody>
      </p:sp>
      <p:sp>
        <p:nvSpPr>
          <p:cNvPr id="458" name="Google Shape;458;p36"/>
          <p:cNvSpPr/>
          <p:nvPr/>
        </p:nvSpPr>
        <p:spPr>
          <a:xfrm>
            <a:off x="31600" y="44308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9" name="Google Shape;459;p36"/>
          <p:cNvCxnSpPr>
            <a:endCxn id="458" idx="0"/>
          </p:cNvCxnSpPr>
          <p:nvPr/>
        </p:nvCxnSpPr>
        <p:spPr>
          <a:xfrm>
            <a:off x="709900" y="426825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36"/>
          <p:cNvSpPr txBox="1"/>
          <p:nvPr>
            <p:ph idx="2" type="body"/>
          </p:nvPr>
        </p:nvSpPr>
        <p:spPr>
          <a:xfrm>
            <a:off x="5504900" y="124210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Given: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AS6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=&gt; [ AS0 ] # provider free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AS2 =&gt; [ AS0 ] # provider free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AS5 sees 5 2 </a:t>
            </a:r>
            <a:r>
              <a:rPr b="1" lang="en-GB" sz="1300">
                <a:solidFill>
                  <a:srgbClr val="F2673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 1 3 6 192.0.2.0/24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AS4 is “Not Provider” for AS1</a:t>
            </a:r>
            <a:br>
              <a:rPr lang="en-GB" sz="1300"/>
            </a:br>
            <a:r>
              <a:rPr b="1" lang="en-GB" sz="1300"/>
              <a:t>Up:             1 3 6</a:t>
            </a:r>
            <a:br>
              <a:rPr lang="en-GB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AS4 is “Not Provider” for AS2</a:t>
            </a:r>
            <a:br>
              <a:rPr lang="en-GB" sz="1300"/>
            </a:br>
            <a:r>
              <a:rPr b="1" lang="en-GB" sz="1300"/>
              <a:t>Down: 5 2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AS4</a:t>
            </a:r>
            <a:r>
              <a:rPr lang="en-GB" sz="1300"/>
              <a:t> is a valley, therefore this is </a:t>
            </a:r>
            <a:r>
              <a:rPr b="1" lang="en-GB" sz="1300"/>
              <a:t>invalid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cxnSp>
        <p:nvCxnSpPr>
          <p:cNvPr id="461" name="Google Shape;461;p36"/>
          <p:cNvCxnSpPr/>
          <p:nvPr/>
        </p:nvCxnSpPr>
        <p:spPr>
          <a:xfrm>
            <a:off x="1971300" y="3307675"/>
            <a:ext cx="91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36"/>
          <p:cNvSpPr txBox="1"/>
          <p:nvPr/>
        </p:nvSpPr>
        <p:spPr>
          <a:xfrm>
            <a:off x="1983872" y="3249364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valley</a:t>
            </a:r>
            <a:endParaRPr sz="18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1126466" y="2322350"/>
            <a:ext cx="427200" cy="1431025"/>
          </a:xfrm>
          <a:custGeom>
            <a:rect b="b" l="l" r="r" t="t"/>
            <a:pathLst>
              <a:path extrusionOk="0" h="57241" w="17088">
                <a:moveTo>
                  <a:pt x="1715" y="57241"/>
                </a:moveTo>
                <a:cubicBezTo>
                  <a:pt x="1606" y="51899"/>
                  <a:pt x="-1501" y="34726"/>
                  <a:pt x="1061" y="25186"/>
                </a:cubicBezTo>
                <a:cubicBezTo>
                  <a:pt x="3623" y="15646"/>
                  <a:pt x="14417" y="4198"/>
                  <a:pt x="17088" y="0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4" name="Google Shape;464;p36"/>
          <p:cNvSpPr txBox="1"/>
          <p:nvPr/>
        </p:nvSpPr>
        <p:spPr>
          <a:xfrm>
            <a:off x="1150575" y="28860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3153800" y="2957101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3565300" y="2338700"/>
            <a:ext cx="498800" cy="1242950"/>
          </a:xfrm>
          <a:custGeom>
            <a:rect b="b" l="l" r="r" t="t"/>
            <a:pathLst>
              <a:path extrusionOk="0" h="49718" w="19952">
                <a:moveTo>
                  <a:pt x="0" y="0"/>
                </a:moveTo>
                <a:cubicBezTo>
                  <a:pt x="2671" y="4852"/>
                  <a:pt x="12702" y="20825"/>
                  <a:pt x="16027" y="29111"/>
                </a:cubicBezTo>
                <a:cubicBezTo>
                  <a:pt x="19352" y="37397"/>
                  <a:pt x="19298" y="46284"/>
                  <a:pt x="19952" y="49718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Google Shape;471;p37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37"/>
          <p:cNvSpPr txBox="1"/>
          <p:nvPr/>
        </p:nvSpPr>
        <p:spPr>
          <a:xfrm>
            <a:off x="759050" y="3117475"/>
            <a:ext cx="60843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ASPA in the</a:t>
            </a:r>
            <a:b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RPKI Dashboard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8" name="Google Shape;478;p38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Page</a:t>
            </a:r>
            <a:endParaRPr/>
          </a:p>
        </p:txBody>
      </p:sp>
      <p:pic>
        <p:nvPicPr>
          <p:cNvPr id="479" name="Google Shape;479;p38" title="Screenshot 2025-10-10 at 10.08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00" y="888575"/>
            <a:ext cx="7025398" cy="38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8"/>
          <p:cNvSpPr/>
          <p:nvPr/>
        </p:nvSpPr>
        <p:spPr>
          <a:xfrm>
            <a:off x="1282800" y="3392400"/>
            <a:ext cx="849600" cy="410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3638400" y="3392400"/>
            <a:ext cx="849600" cy="410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7" name="Google Shape;487;p39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Manage ASPAs</a:t>
            </a:r>
            <a:endParaRPr/>
          </a:p>
        </p:txBody>
      </p:sp>
      <p:sp>
        <p:nvSpPr>
          <p:cNvPr id="488" name="Google Shape;488;p39"/>
          <p:cNvSpPr txBox="1"/>
          <p:nvPr>
            <p:ph idx="2" type="body"/>
          </p:nvPr>
        </p:nvSpPr>
        <p:spPr>
          <a:xfrm>
            <a:off x="311700" y="3153600"/>
            <a:ext cx="8088600" cy="130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ASPA configuration options are only shown for the </a:t>
            </a:r>
            <a:r>
              <a:rPr b="1" lang="en-GB" sz="1600"/>
              <a:t>AS number(s) you hold</a:t>
            </a:r>
            <a:endParaRPr b="1" sz="1600"/>
          </a:p>
        </p:txBody>
      </p:sp>
      <p:pic>
        <p:nvPicPr>
          <p:cNvPr id="489" name="Google Shape;489;p39" title="Screenshot 2025-10-10 at 10.12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400" y="889200"/>
            <a:ext cx="7023601" cy="2209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0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5" name="Google Shape;495;p40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/ Review ASPAs</a:t>
            </a:r>
            <a:endParaRPr/>
          </a:p>
        </p:txBody>
      </p:sp>
      <p:sp>
        <p:nvSpPr>
          <p:cNvPr id="496" name="Google Shape;496;p40"/>
          <p:cNvSpPr txBox="1"/>
          <p:nvPr>
            <p:ph idx="2" type="body"/>
          </p:nvPr>
        </p:nvSpPr>
        <p:spPr>
          <a:xfrm>
            <a:off x="311700" y="3791650"/>
            <a:ext cx="8510700" cy="6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You need to check which providers to include, there are </a:t>
            </a:r>
            <a:r>
              <a:rPr b="1" lang="en-GB" sz="1800"/>
              <a:t>no suggestions</a:t>
            </a:r>
            <a:endParaRPr b="1" sz="1800"/>
          </a:p>
        </p:txBody>
      </p:sp>
      <p:pic>
        <p:nvPicPr>
          <p:cNvPr id="497" name="Google Shape;497;p40" title="Screenshot 2025-10-10 at 10.19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0665"/>
            <a:ext cx="4467425" cy="169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0" title="Screenshot 2025-10-10 at 10.20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972" y="1973400"/>
            <a:ext cx="4467427" cy="162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4" name="Google Shape;504;p41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Providers Should Go on Your ASPA Objects?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1"/>
          <p:cNvSpPr txBox="1"/>
          <p:nvPr>
            <p:ph idx="2" type="body"/>
          </p:nvPr>
        </p:nvSpPr>
        <p:spPr>
          <a:xfrm>
            <a:off x="311700" y="875073"/>
            <a:ext cx="8325300" cy="36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/>
              <a:t>All your providers!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Including </a:t>
            </a:r>
            <a:r>
              <a:rPr b="1" lang="en-GB" sz="1800"/>
              <a:t>backup ones</a:t>
            </a:r>
            <a:r>
              <a:rPr lang="en-GB" sz="1800"/>
              <a:t> even if they are </a:t>
            </a:r>
            <a:r>
              <a:rPr lang="en-GB" sz="1800"/>
              <a:t>not visible in AS path at the moment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/>
              <a:t>Not your lateral peers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Unless those peers that </a:t>
            </a:r>
            <a:r>
              <a:rPr i="1" lang="en-GB" sz="1800"/>
              <a:t>can</a:t>
            </a:r>
            <a:r>
              <a:rPr lang="en-GB" sz="1800"/>
              <a:t> act as your Provider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Also include </a:t>
            </a:r>
            <a:r>
              <a:rPr b="1" lang="en-GB" sz="1800"/>
              <a:t>non-transparent route servers of IXP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Otherwise the non-transparent route server AS would be considered a valley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Make this the part of your </a:t>
            </a:r>
            <a:r>
              <a:rPr b="1" lang="en-GB" sz="1800"/>
              <a:t>IRR update procedure</a:t>
            </a:r>
            <a:endParaRPr b="1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42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2"/>
          <p:cNvSpPr txBox="1"/>
          <p:nvPr/>
        </p:nvSpPr>
        <p:spPr>
          <a:xfrm>
            <a:off x="759050" y="3669450"/>
            <a:ext cx="83133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ASPA in the Routers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7" name="Google Shape;517;p43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Signing to Router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3"/>
          <p:cNvSpPr txBox="1"/>
          <p:nvPr>
            <p:ph idx="2" type="body"/>
          </p:nvPr>
        </p:nvSpPr>
        <p:spPr>
          <a:xfrm>
            <a:off x="409350" y="3277800"/>
            <a:ext cx="8325300" cy="13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/>
              <a:t>Same deployment model</a:t>
            </a:r>
            <a:r>
              <a:rPr lang="en-GB" sz="1800"/>
              <a:t> as BGP Origin Validation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800"/>
            </a:br>
            <a:endParaRPr sz="1800"/>
          </a:p>
        </p:txBody>
      </p:sp>
      <p:sp>
        <p:nvSpPr>
          <p:cNvPr id="519" name="Google Shape;519;p43"/>
          <p:cNvSpPr/>
          <p:nvPr/>
        </p:nvSpPr>
        <p:spPr>
          <a:xfrm>
            <a:off x="459000" y="1131200"/>
            <a:ext cx="1291200" cy="119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RPKI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CAs</a:t>
            </a:r>
            <a:br>
              <a:rPr lang="en-GB">
                <a:latin typeface="Verdana"/>
                <a:ea typeface="Verdana"/>
                <a:cs typeface="Verdana"/>
                <a:sym typeface="Verdana"/>
              </a:rPr>
            </a:br>
            <a:br>
              <a:rPr lang="en-GB">
                <a:latin typeface="Verdana"/>
                <a:ea typeface="Verdana"/>
                <a:cs typeface="Verdana"/>
                <a:sym typeface="Verdana"/>
              </a:rPr>
            </a:br>
            <a:r>
              <a:rPr lang="en-GB" sz="800">
                <a:latin typeface="Verdana"/>
                <a:ea typeface="Verdana"/>
                <a:cs typeface="Verdana"/>
                <a:sym typeface="Verdana"/>
              </a:rPr>
              <a:t>(RPKI dashboard)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082200" y="1136400"/>
            <a:ext cx="1291200" cy="119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RPKI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Validator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2770601" y="1012825"/>
            <a:ext cx="1291200" cy="1549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RPKI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Repository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7393801" y="1012825"/>
            <a:ext cx="1291200" cy="1549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Router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23" name="Google Shape;523;p43"/>
          <p:cNvCxnSpPr>
            <a:endCxn id="521" idx="2"/>
          </p:cNvCxnSpPr>
          <p:nvPr/>
        </p:nvCxnSpPr>
        <p:spPr>
          <a:xfrm>
            <a:off x="1743101" y="1733575"/>
            <a:ext cx="1027500" cy="54000"/>
          </a:xfrm>
          <a:prstGeom prst="curvedConnector3">
            <a:avLst>
              <a:gd fmla="val 5027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4" name="Google Shape;524;p43"/>
          <p:cNvCxnSpPr>
            <a:stCxn id="520" idx="1"/>
            <a:endCxn id="521" idx="4"/>
          </p:cNvCxnSpPr>
          <p:nvPr/>
        </p:nvCxnSpPr>
        <p:spPr>
          <a:xfrm flipH="1">
            <a:off x="4061900" y="1733550"/>
            <a:ext cx="1020300" cy="54000"/>
          </a:xfrm>
          <a:prstGeom prst="curvedConnector3">
            <a:avLst>
              <a:gd fmla="val 5000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5" name="Google Shape;525;p43"/>
          <p:cNvCxnSpPr>
            <a:stCxn id="520" idx="3"/>
            <a:endCxn id="522" idx="2"/>
          </p:cNvCxnSpPr>
          <p:nvPr/>
        </p:nvCxnSpPr>
        <p:spPr>
          <a:xfrm>
            <a:off x="6373400" y="1733550"/>
            <a:ext cx="1020300" cy="54000"/>
          </a:xfrm>
          <a:prstGeom prst="curvedConnector3">
            <a:avLst>
              <a:gd fmla="val 5000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6" name="Google Shape;526;p43"/>
          <p:cNvSpPr txBox="1"/>
          <p:nvPr/>
        </p:nvSpPr>
        <p:spPr>
          <a:xfrm>
            <a:off x="1750200" y="1748700"/>
            <a:ext cx="1020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sign &amp;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publish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7" name="Google Shape;527;p43"/>
          <p:cNvSpPr txBox="1"/>
          <p:nvPr/>
        </p:nvSpPr>
        <p:spPr>
          <a:xfrm>
            <a:off x="4061900" y="1816100"/>
            <a:ext cx="10275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  validate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6369800" y="1783825"/>
            <a:ext cx="10275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rtr</a:t>
            </a:r>
            <a:b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protocol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4" name="Google Shape;534;p44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ASPA Validation Deployment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4"/>
          <p:cNvSpPr txBox="1"/>
          <p:nvPr>
            <p:ph idx="2" type="body"/>
          </p:nvPr>
        </p:nvSpPr>
        <p:spPr>
          <a:xfrm>
            <a:off x="311700" y="1050400"/>
            <a:ext cx="8325300" cy="3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26738"/>
                </a:solidFill>
              </a:rPr>
              <a:t>It’s a sharp tool</a:t>
            </a:r>
            <a:endParaRPr b="1" sz="1800">
              <a:solidFill>
                <a:srgbClr val="F267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As with </a:t>
            </a:r>
            <a:r>
              <a:rPr b="1" lang="en-GB" sz="1800"/>
              <a:t>BGP Origin Validation</a:t>
            </a:r>
            <a:r>
              <a:rPr lang="en-GB" sz="1800"/>
              <a:t>: reject invalid, do not just lower preference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“</a:t>
            </a:r>
            <a:r>
              <a:rPr b="1" lang="en-GB" sz="1800"/>
              <a:t>Upstream</a:t>
            </a:r>
            <a:r>
              <a:rPr lang="en-GB" sz="1800"/>
              <a:t> Path Validation” for your </a:t>
            </a:r>
            <a:r>
              <a:rPr b="1" lang="en-GB" sz="1800"/>
              <a:t>customers</a:t>
            </a:r>
            <a:r>
              <a:rPr lang="en-GB" sz="1800"/>
              <a:t> and </a:t>
            </a:r>
            <a:r>
              <a:rPr b="1" lang="en-GB" sz="1800"/>
              <a:t>peers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“</a:t>
            </a:r>
            <a:r>
              <a:rPr b="1" lang="en-GB" sz="1800"/>
              <a:t>Downstream</a:t>
            </a:r>
            <a:r>
              <a:rPr lang="en-GB" sz="1800"/>
              <a:t> Path Validation” for your </a:t>
            </a:r>
            <a:r>
              <a:rPr b="1" lang="en-GB" sz="1800"/>
              <a:t>providers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26738"/>
                </a:solidFill>
              </a:rPr>
              <a:t>But it’s early days</a:t>
            </a:r>
            <a:endParaRPr b="1" sz="1800">
              <a:solidFill>
                <a:srgbClr val="F267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Not yet available on many routers, talk to your vendor!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Probably wise to start by logging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 sz="1800"/>
              <a:t>Warn customers if they </a:t>
            </a:r>
            <a:r>
              <a:rPr b="1" lang="en-GB" sz="1800"/>
              <a:t>did not include you as a provider</a:t>
            </a:r>
            <a:endParaRPr b="1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45"/>
          <p:cNvPicPr preferRelativeResize="0"/>
          <p:nvPr/>
        </p:nvPicPr>
        <p:blipFill rotWithShape="1">
          <a:blip r:embed="rId3">
            <a:alphaModFix/>
          </a:blip>
          <a:srcRect b="169" l="0" r="0" t="179"/>
          <a:stretch/>
        </p:blipFill>
        <p:spPr>
          <a:xfrm>
            <a:off x="-16187" y="0"/>
            <a:ext cx="91763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3650" y="245960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5"/>
          <p:cNvSpPr txBox="1"/>
          <p:nvPr/>
        </p:nvSpPr>
        <p:spPr>
          <a:xfrm>
            <a:off x="1487400" y="1713825"/>
            <a:ext cx="39261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Questions </a:t>
            </a:r>
            <a:br>
              <a:rPr b="1" lang="en-GB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GB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&amp; Comments</a:t>
            </a:r>
            <a:endParaRPr b="1" sz="41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3" name="Google Shape;543;p45"/>
          <p:cNvSpPr txBox="1"/>
          <p:nvPr/>
        </p:nvSpPr>
        <p:spPr>
          <a:xfrm>
            <a:off x="5413375" y="1456925"/>
            <a:ext cx="1455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200">
                <a:solidFill>
                  <a:srgbClr val="F26738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1" sz="12200">
              <a:solidFill>
                <a:srgbClr val="F2673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44" name="Google Shape;544;p45"/>
          <p:cNvGrpSpPr/>
          <p:nvPr/>
        </p:nvGrpSpPr>
        <p:grpSpPr>
          <a:xfrm>
            <a:off x="1487397" y="3694400"/>
            <a:ext cx="3176027" cy="431100"/>
            <a:chOff x="4110272" y="3687250"/>
            <a:chExt cx="3176027" cy="431100"/>
          </a:xfrm>
        </p:grpSpPr>
        <p:sp>
          <p:nvSpPr>
            <p:cNvPr id="545" name="Google Shape;545;p45"/>
            <p:cNvSpPr txBox="1"/>
            <p:nvPr/>
          </p:nvSpPr>
          <p:spPr>
            <a:xfrm>
              <a:off x="4456700" y="3687250"/>
              <a:ext cx="282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u="sng">
                  <a:solidFill>
                    <a:schemeClr val="hlink"/>
                  </a:solidFill>
                  <a:latin typeface="Verdana"/>
                  <a:ea typeface="Verdana"/>
                  <a:cs typeface="Verdana"/>
                  <a:sym typeface="Verdana"/>
                  <a:hlinkClick r:id="rId5"/>
                </a:rPr>
                <a:t>cberto</a:t>
              </a:r>
              <a:r>
                <a:rPr lang="en-GB" sz="1600" u="sng">
                  <a:solidFill>
                    <a:schemeClr val="hlink"/>
                  </a:solidFill>
                  <a:latin typeface="Verdana"/>
                  <a:ea typeface="Verdana"/>
                  <a:cs typeface="Verdana"/>
                  <a:sym typeface="Verdana"/>
                  <a:hlinkClick r:id="rId6"/>
                </a:rPr>
                <a:t>@ripe.net</a:t>
              </a:r>
              <a:endParaRPr sz="1600">
                <a:solidFill>
                  <a:srgbClr val="F26738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546" name="Google Shape;546;p45"/>
            <p:cNvGrpSpPr/>
            <p:nvPr/>
          </p:nvGrpSpPr>
          <p:grpSpPr>
            <a:xfrm>
              <a:off x="4110272" y="3753111"/>
              <a:ext cx="346431" cy="346431"/>
              <a:chOff x="4497725" y="1397950"/>
              <a:chExt cx="683700" cy="683700"/>
            </a:xfrm>
          </p:grpSpPr>
          <p:sp>
            <p:nvSpPr>
              <p:cNvPr id="547" name="Google Shape;547;p45"/>
              <p:cNvSpPr/>
              <p:nvPr/>
            </p:nvSpPr>
            <p:spPr>
              <a:xfrm>
                <a:off x="4497725" y="1397950"/>
                <a:ext cx="683700" cy="683700"/>
              </a:xfrm>
              <a:prstGeom prst="ellipse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pic>
            <p:nvPicPr>
              <p:cNvPr id="548" name="Google Shape;548;p4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669363" y="1569588"/>
                <a:ext cx="340425" cy="340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PE NCC - Mai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